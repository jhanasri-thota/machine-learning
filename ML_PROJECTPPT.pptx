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315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2315C"/>
                </a:solidFill>
                <a:latin typeface="+mn-lt"/>
              </a:rPr>
              <a:t>Baseline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4FB3B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024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LogReg</c:v>
                  </c:pt>
                  <c:pt idx="1">
                    <c:v>SVM</c:v>
                  </c:pt>
                  <c:pt idx="2">
                    <c:v>NB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0.77</c:v>
                </c:pt>
                <c:pt idx="1">
                  <c:v>0.758</c:v>
                </c:pt>
                <c:pt idx="2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3E6FA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024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LogReg</c:v>
                  </c:pt>
                  <c:pt idx="1">
                    <c:v>SVM</c:v>
                  </c:pt>
                  <c:pt idx="2">
                    <c:v>NB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0.742</c:v>
                </c:pt>
                <c:pt idx="1">
                  <c:v>0.72</c:v>
                </c:pt>
                <c:pt idx="2">
                  <c:v>0.663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024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0243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.5"/>
        </c:scaling>
        <c:delete val="0"/>
        <c:axPos val="l"/>
        <c:majorGridlines>
          <c:spPr>
            <a:ln w="6350" cap="flat">
              <a:solidFill>
                <a:srgbClr val="CFDA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0243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123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2B33D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231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36576"/>
          </a:xfrm>
          <a:prstGeom prst="rect">
            <a:avLst/>
          </a:prstGeom>
          <a:solidFill>
            <a:srgbClr val="F2B3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Financial Sentiment Analysis using NLP and BERT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22960" y="91440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Sentiment Analysis Using NLP and BERT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82296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Market Prediction</a:t>
            </a:r>
            <a:endParaRPr lang="en-US" sz="2000" dirty="0"/>
          </a:p>
        </p:txBody>
      </p:sp>
      <p:sp>
        <p:nvSpPr>
          <p:cNvPr id="4" name="Divider"/>
          <p:cNvSpPr/>
          <p:nvPr/>
        </p:nvSpPr>
        <p:spPr>
          <a:xfrm>
            <a:off x="822960" y="2926080"/>
            <a:ext cx="1097280" cy="54864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5" name="Authors"/>
          <p:cNvSpPr txBox="1"/>
          <p:nvPr/>
        </p:nvSpPr>
        <p:spPr>
          <a:xfrm>
            <a:off x="822960" y="3154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Amrutha J (2520080066)  |  Jhanasri T (2520090121)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Guide: Dr. Y. Lakshmi Prasanna, Assistant Professor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Department of CSIT, KL University  |  Machine Learning (B.Tech)  |  Academic Year 2026-27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Title underline"/>
          <p:cNvSpPr/>
          <p:nvPr/>
        </p:nvSpPr>
        <p:spPr>
          <a:xfrm>
            <a:off x="548640" y="914400"/>
            <a:ext cx="822960" cy="4572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4" name="Card 1"/>
          <p:cNvSpPr/>
          <p:nvPr/>
        </p:nvSpPr>
        <p:spPr>
          <a:xfrm>
            <a:off x="548640" y="118872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5" name="Card 1 accent"/>
          <p:cNvSpPr/>
          <p:nvPr/>
        </p:nvSpPr>
        <p:spPr>
          <a:xfrm>
            <a:off x="731520" y="1371600"/>
            <a:ext cx="365760" cy="54864"/>
          </a:xfrm>
          <a:prstGeom prst="rect">
            <a:avLst/>
          </a:prstGeom>
          <a:solidFill>
            <a:srgbClr val="9ADBE2"/>
          </a:solidFill>
          <a:ln w="12700">
            <a:solidFill>
              <a:srgbClr val="9ADBE2"/>
            </a:solidFill>
            <a:prstDash val="solid"/>
          </a:ln>
        </p:spPr>
      </p:sp>
      <p:sp>
        <p:nvSpPr>
          <p:cNvPr id="6" name="Card 1 text"/>
          <p:cNvSpPr txBox="1"/>
          <p:nvPr/>
        </p:nvSpPr>
        <p:spPr>
          <a:xfrm>
            <a:off x="731520" y="155448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Background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Thousands of financial articles appear daily. Their tone moves investor confidence.</a:t>
            </a:r>
            <a:endParaRPr lang="en-US" sz="1600" dirty="0"/>
          </a:p>
        </p:txBody>
      </p:sp>
      <p:sp>
        <p:nvSpPr>
          <p:cNvPr id="7" name="Card 2"/>
          <p:cNvSpPr/>
          <p:nvPr/>
        </p:nvSpPr>
        <p:spPr>
          <a:xfrm>
            <a:off x="3291840" y="118872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8" name="Card 2 accent"/>
          <p:cNvSpPr/>
          <p:nvPr/>
        </p:nvSpPr>
        <p:spPr>
          <a:xfrm>
            <a:off x="3474720" y="1371600"/>
            <a:ext cx="365760" cy="54864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9" name="Card 2 text"/>
          <p:cNvSpPr txBox="1"/>
          <p:nvPr/>
        </p:nvSpPr>
        <p:spPr>
          <a:xfrm>
            <a:off x="3474720" y="155448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Domain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NLP sentiment analysis: label text as positive, negative or neutral.</a:t>
            </a:r>
            <a:endParaRPr lang="en-US" sz="1600" dirty="0"/>
          </a:p>
        </p:txBody>
      </p:sp>
      <p:sp>
        <p:nvSpPr>
          <p:cNvPr id="10" name="Card 3"/>
          <p:cNvSpPr/>
          <p:nvPr/>
        </p:nvSpPr>
        <p:spPr>
          <a:xfrm>
            <a:off x="6035040" y="118872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11" name="Card 3 accent"/>
          <p:cNvSpPr/>
          <p:nvPr/>
        </p:nvSpPr>
        <p:spPr>
          <a:xfrm>
            <a:off x="6217920" y="1371600"/>
            <a:ext cx="365760" cy="54864"/>
          </a:xfrm>
          <a:prstGeom prst="rect">
            <a:avLst/>
          </a:prstGeom>
          <a:solidFill>
            <a:srgbClr val="F5D488"/>
          </a:solidFill>
          <a:ln w="12700">
            <a:solidFill>
              <a:srgbClr val="F5D488"/>
            </a:solidFill>
            <a:prstDash val="solid"/>
          </a:ln>
        </p:spPr>
      </p:sp>
      <p:sp>
        <p:nvSpPr>
          <p:cNvPr id="12" name="Card 3 text"/>
          <p:cNvSpPr txBox="1"/>
          <p:nvPr/>
        </p:nvSpPr>
        <p:spPr>
          <a:xfrm>
            <a:off x="6217920" y="155448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Why needed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analyst can read everything. "Cut costs" is good news, "cut guidance" is bad, so context matters.</a:t>
            </a:r>
            <a:endParaRPr lang="en-US" sz="1600" dirty="0"/>
          </a:p>
        </p:txBody>
      </p:sp>
      <p:sp>
        <p:nvSpPr>
          <p:cNvPr id="13" name="takeaway"/>
          <p:cNvSpPr txBox="1"/>
          <p:nvPr/>
        </p:nvSpPr>
        <p:spPr>
          <a:xfrm>
            <a:off x="548640" y="4160520"/>
            <a:ext cx="8046720" cy="411480"/>
          </a:xfrm>
          <a:prstGeom prst="roundRect">
            <a:avLst>
              <a:gd name="adj" fmla="val 44444"/>
            </a:avLst>
          </a:prstGeom>
          <a:solidFill>
            <a:srgbClr val="0E7C8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Sentiment is the input signal toward market prediction.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itle underline"/>
          <p:cNvSpPr/>
          <p:nvPr/>
        </p:nvSpPr>
        <p:spPr>
          <a:xfrm>
            <a:off x="548640" y="914400"/>
            <a:ext cx="822960" cy="4572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4" name="Card 1"/>
          <p:cNvSpPr/>
          <p:nvPr/>
        </p:nvSpPr>
        <p:spPr>
          <a:xfrm>
            <a:off x="548640" y="118872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5" name="Card 1 accent"/>
          <p:cNvSpPr/>
          <p:nvPr/>
        </p:nvSpPr>
        <p:spPr>
          <a:xfrm>
            <a:off x="731520" y="1371600"/>
            <a:ext cx="365760" cy="54864"/>
          </a:xfrm>
          <a:prstGeom prst="rect">
            <a:avLst/>
          </a:prstGeom>
          <a:solidFill>
            <a:srgbClr val="9ADBE2"/>
          </a:solidFill>
          <a:ln w="12700">
            <a:solidFill>
              <a:srgbClr val="9ADBE2"/>
            </a:solidFill>
            <a:prstDash val="solid"/>
          </a:ln>
        </p:spPr>
      </p:sp>
      <p:sp>
        <p:nvSpPr>
          <p:cNvPr id="6" name="Card 1 text"/>
          <p:cNvSpPr txBox="1"/>
          <p:nvPr/>
        </p:nvSpPr>
        <p:spPr>
          <a:xfrm>
            <a:off x="731520" y="155448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Existing problem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Too much financial news to read manually and judge quickly.</a:t>
            </a:r>
            <a:endParaRPr lang="en-US" sz="1600" dirty="0"/>
          </a:p>
        </p:txBody>
      </p:sp>
      <p:sp>
        <p:nvSpPr>
          <p:cNvPr id="7" name="Card 2"/>
          <p:cNvSpPr/>
          <p:nvPr/>
        </p:nvSpPr>
        <p:spPr>
          <a:xfrm>
            <a:off x="3291840" y="118872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8" name="Card 2 accent"/>
          <p:cNvSpPr/>
          <p:nvPr/>
        </p:nvSpPr>
        <p:spPr>
          <a:xfrm>
            <a:off x="3474720" y="1371600"/>
            <a:ext cx="365760" cy="54864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9" name="Card 2 text"/>
          <p:cNvSpPr txBox="1"/>
          <p:nvPr/>
        </p:nvSpPr>
        <p:spPr>
          <a:xfrm>
            <a:off x="3474720" y="155448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Limitations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Word-count methods ignore context and negation. Finance jargon confuses general models.</a:t>
            </a:r>
            <a:endParaRPr lang="en-US" sz="1600" dirty="0"/>
          </a:p>
        </p:txBody>
      </p:sp>
      <p:sp>
        <p:nvSpPr>
          <p:cNvPr id="10" name="Card 3"/>
          <p:cNvSpPr/>
          <p:nvPr/>
        </p:nvSpPr>
        <p:spPr>
          <a:xfrm>
            <a:off x="6035040" y="118872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11" name="Card 3 accent"/>
          <p:cNvSpPr/>
          <p:nvPr/>
        </p:nvSpPr>
        <p:spPr>
          <a:xfrm>
            <a:off x="6217920" y="1371600"/>
            <a:ext cx="365760" cy="54864"/>
          </a:xfrm>
          <a:prstGeom prst="rect">
            <a:avLst/>
          </a:prstGeom>
          <a:solidFill>
            <a:srgbClr val="F5D488"/>
          </a:solidFill>
          <a:ln w="12700">
            <a:solidFill>
              <a:srgbClr val="F5D488"/>
            </a:solidFill>
            <a:prstDash val="solid"/>
          </a:ln>
        </p:spPr>
      </p:sp>
      <p:sp>
        <p:nvSpPr>
          <p:cNvPr id="12" name="Card 3 text"/>
          <p:cNvSpPr txBox="1"/>
          <p:nvPr/>
        </p:nvSpPr>
        <p:spPr>
          <a:xfrm>
            <a:off x="6217920" y="155448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Who is affected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Investors, analysts, traders and financial media teams.</a:t>
            </a:r>
            <a:endParaRPr lang="en-US" sz="1600" dirty="0"/>
          </a:p>
        </p:txBody>
      </p:sp>
      <p:sp>
        <p:nvSpPr>
          <p:cNvPr id="13" name="takeaway"/>
          <p:cNvSpPr txBox="1"/>
          <p:nvPr/>
        </p:nvSpPr>
        <p:spPr>
          <a:xfrm>
            <a:off x="548640" y="4160520"/>
            <a:ext cx="8046720" cy="411480"/>
          </a:xfrm>
          <a:prstGeom prst="roundRect">
            <a:avLst>
              <a:gd name="adj" fmla="val 44444"/>
            </a:avLst>
          </a:prstGeom>
          <a:solidFill>
            <a:srgbClr val="0E7C8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Goal: classify a financial sentence as positive, negative or neutral.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</a:t>
            </a:r>
            <a:endParaRPr lang="en-US" sz="2800" dirty="0"/>
          </a:p>
        </p:txBody>
      </p:sp>
      <p:sp>
        <p:nvSpPr>
          <p:cNvPr id="3" name="Title underline"/>
          <p:cNvSpPr/>
          <p:nvPr/>
        </p:nvSpPr>
        <p:spPr>
          <a:xfrm>
            <a:off x="548640" y="914400"/>
            <a:ext cx="822960" cy="4572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4" name="Card 1"/>
          <p:cNvSpPr/>
          <p:nvPr/>
        </p:nvSpPr>
        <p:spPr>
          <a:xfrm>
            <a:off x="548640" y="128016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5" name="Card 1 accent"/>
          <p:cNvSpPr/>
          <p:nvPr/>
        </p:nvSpPr>
        <p:spPr>
          <a:xfrm>
            <a:off x="731520" y="1463040"/>
            <a:ext cx="365760" cy="54864"/>
          </a:xfrm>
          <a:prstGeom prst="rect">
            <a:avLst/>
          </a:prstGeom>
          <a:solidFill>
            <a:srgbClr val="9ADBE2"/>
          </a:solidFill>
          <a:ln w="12700">
            <a:solidFill>
              <a:srgbClr val="9ADBE2"/>
            </a:solidFill>
            <a:prstDash val="solid"/>
          </a:ln>
        </p:spPr>
      </p:sp>
      <p:sp>
        <p:nvSpPr>
          <p:cNvPr id="6" name="Card 1 text"/>
          <p:cNvSpPr txBox="1"/>
          <p:nvPr/>
        </p:nvSpPr>
        <p:spPr>
          <a:xfrm>
            <a:off x="731520" y="164592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Why this project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 prove with measurements whether a modern model beats a simple one.</a:t>
            </a:r>
            <a:endParaRPr lang="en-US" sz="1600" dirty="0"/>
          </a:p>
        </p:txBody>
      </p:sp>
      <p:sp>
        <p:nvSpPr>
          <p:cNvPr id="7" name="Card 2"/>
          <p:cNvSpPr/>
          <p:nvPr/>
        </p:nvSpPr>
        <p:spPr>
          <a:xfrm>
            <a:off x="3291840" y="128016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8" name="Card 2 accent"/>
          <p:cNvSpPr/>
          <p:nvPr/>
        </p:nvSpPr>
        <p:spPr>
          <a:xfrm>
            <a:off x="3474720" y="1463040"/>
            <a:ext cx="365760" cy="54864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9" name="Card 2 text"/>
          <p:cNvSpPr txBox="1"/>
          <p:nvPr/>
        </p:nvSpPr>
        <p:spPr>
          <a:xfrm>
            <a:off x="3474720" y="164592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Real-world need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Faster, consistent reading of market news to support investment decisions.</a:t>
            </a:r>
            <a:endParaRPr lang="en-US" sz="1600" dirty="0"/>
          </a:p>
        </p:txBody>
      </p:sp>
      <p:sp>
        <p:nvSpPr>
          <p:cNvPr id="10" name="Card 3"/>
          <p:cNvSpPr/>
          <p:nvPr/>
        </p:nvSpPr>
        <p:spPr>
          <a:xfrm>
            <a:off x="6035040" y="128016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11" name="Card 3 accent"/>
          <p:cNvSpPr/>
          <p:nvPr/>
        </p:nvSpPr>
        <p:spPr>
          <a:xfrm>
            <a:off x="6217920" y="1463040"/>
            <a:ext cx="365760" cy="54864"/>
          </a:xfrm>
          <a:prstGeom prst="rect">
            <a:avLst/>
          </a:prstGeom>
          <a:solidFill>
            <a:srgbClr val="F5D488"/>
          </a:solidFill>
          <a:ln w="12700">
            <a:solidFill>
              <a:srgbClr val="F5D488"/>
            </a:solidFill>
            <a:prstDash val="solid"/>
          </a:ln>
        </p:spPr>
      </p:sp>
      <p:sp>
        <p:nvSpPr>
          <p:cNvPr id="12" name="Card 3 text"/>
          <p:cNvSpPr txBox="1"/>
          <p:nvPr/>
        </p:nvSpPr>
        <p:spPr>
          <a:xfrm>
            <a:off x="6217920" y="164592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Research / industry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FinBERT-style models are widely studied. About 86% accuracy is reported on this dataset.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3" name="Title underline"/>
          <p:cNvSpPr/>
          <p:nvPr/>
        </p:nvSpPr>
        <p:spPr>
          <a:xfrm>
            <a:off x="548640" y="914400"/>
            <a:ext cx="822960" cy="4572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4" name="Main objective"/>
          <p:cNvSpPr txBox="1"/>
          <p:nvPr/>
        </p:nvSpPr>
        <p:spPr>
          <a:xfrm>
            <a:off x="548640" y="1005840"/>
            <a:ext cx="8046720" cy="548640"/>
          </a:xfrm>
          <a:prstGeom prst="roundRect">
            <a:avLst>
              <a:gd name="adj" fmla="val 25000"/>
            </a:avLst>
          </a:prstGeom>
          <a:solidFill>
            <a:srgbClr val="0E7C8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Main objective: classify financial text as positive, negative or neutral, and compare classic ML with BERT.</a:t>
            </a:r>
            <a:endParaRPr lang="en-US" sz="1400" dirty="0"/>
          </a:p>
        </p:txBody>
      </p:sp>
      <p:sp>
        <p:nvSpPr>
          <p:cNvPr id="5" name="Obj 1"/>
          <p:cNvSpPr/>
          <p:nvPr/>
        </p:nvSpPr>
        <p:spPr>
          <a:xfrm>
            <a:off x="548640" y="1828800"/>
            <a:ext cx="1481328" cy="219456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6" name="Obj num 1"/>
          <p:cNvSpPr txBox="1"/>
          <p:nvPr/>
        </p:nvSpPr>
        <p:spPr>
          <a:xfrm>
            <a:off x="1014984" y="2011680"/>
            <a:ext cx="548640" cy="548640"/>
          </a:xfrm>
          <a:prstGeom prst="ellipse">
            <a:avLst/>
          </a:prstGeom>
          <a:solidFill>
            <a:srgbClr val="9ADB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Obj text 1"/>
          <p:cNvSpPr txBox="1"/>
          <p:nvPr/>
        </p:nvSpPr>
        <p:spPr>
          <a:xfrm>
            <a:off x="640080" y="2606040"/>
            <a:ext cx="12984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Classifier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Three-class sentiment model</a:t>
            </a:r>
            <a:endParaRPr lang="en-US" sz="1400" dirty="0"/>
          </a:p>
        </p:txBody>
      </p:sp>
      <p:sp>
        <p:nvSpPr>
          <p:cNvPr id="8" name="Obj 2"/>
          <p:cNvSpPr/>
          <p:nvPr/>
        </p:nvSpPr>
        <p:spPr>
          <a:xfrm>
            <a:off x="2176272" y="1828800"/>
            <a:ext cx="1481328" cy="219456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9" name="Obj num 2"/>
          <p:cNvSpPr txBox="1"/>
          <p:nvPr/>
        </p:nvSpPr>
        <p:spPr>
          <a:xfrm>
            <a:off x="2642616" y="2011680"/>
            <a:ext cx="548640" cy="548640"/>
          </a:xfrm>
          <a:prstGeom prst="ellipse">
            <a:avLst/>
          </a:prstGeom>
          <a:solidFill>
            <a:srgbClr val="A9C4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Obj text 2"/>
          <p:cNvSpPr txBox="1"/>
          <p:nvPr/>
        </p:nvSpPr>
        <p:spPr>
          <a:xfrm>
            <a:off x="2267712" y="2606040"/>
            <a:ext cx="12984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Baselines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Traditional ML first</a:t>
            </a:r>
            <a:endParaRPr lang="en-US" sz="1400" dirty="0"/>
          </a:p>
        </p:txBody>
      </p:sp>
      <p:sp>
        <p:nvSpPr>
          <p:cNvPr id="11" name="Obj 3"/>
          <p:cNvSpPr/>
          <p:nvPr/>
        </p:nvSpPr>
        <p:spPr>
          <a:xfrm>
            <a:off x="3803904" y="1828800"/>
            <a:ext cx="1481328" cy="219456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12" name="Obj num 3"/>
          <p:cNvSpPr txBox="1"/>
          <p:nvPr/>
        </p:nvSpPr>
        <p:spPr>
          <a:xfrm>
            <a:off x="4270248" y="2011680"/>
            <a:ext cx="548640" cy="548640"/>
          </a:xfrm>
          <a:prstGeom prst="ellipse">
            <a:avLst/>
          </a:prstGeom>
          <a:solidFill>
            <a:srgbClr val="F5D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Obj text 3"/>
          <p:cNvSpPr txBox="1"/>
          <p:nvPr/>
        </p:nvSpPr>
        <p:spPr>
          <a:xfrm>
            <a:off x="3895344" y="2606040"/>
            <a:ext cx="12984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FinBERT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Fine-tune and compare</a:t>
            </a:r>
            <a:endParaRPr lang="en-US" sz="1400" dirty="0"/>
          </a:p>
        </p:txBody>
      </p:sp>
      <p:sp>
        <p:nvSpPr>
          <p:cNvPr id="14" name="Obj 4"/>
          <p:cNvSpPr/>
          <p:nvPr/>
        </p:nvSpPr>
        <p:spPr>
          <a:xfrm>
            <a:off x="5431536" y="1828800"/>
            <a:ext cx="1481328" cy="219456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15" name="Obj num 4"/>
          <p:cNvSpPr txBox="1"/>
          <p:nvPr/>
        </p:nvSpPr>
        <p:spPr>
          <a:xfrm>
            <a:off x="5897880" y="2011680"/>
            <a:ext cx="548640" cy="548640"/>
          </a:xfrm>
          <a:prstGeom prst="ellipse">
            <a:avLst/>
          </a:prstGeom>
          <a:solidFill>
            <a:srgbClr val="C5D3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Obj text 4"/>
          <p:cNvSpPr txBox="1"/>
          <p:nvPr/>
        </p:nvSpPr>
        <p:spPr>
          <a:xfrm>
            <a:off x="5522976" y="2606040"/>
            <a:ext cx="12984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Evaluation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Accuracy, P, R, F1, confusion matrix</a:t>
            </a:r>
            <a:endParaRPr lang="en-US" sz="1400" dirty="0"/>
          </a:p>
        </p:txBody>
      </p:sp>
      <p:sp>
        <p:nvSpPr>
          <p:cNvPr id="17" name="Obj 5"/>
          <p:cNvSpPr/>
          <p:nvPr/>
        </p:nvSpPr>
        <p:spPr>
          <a:xfrm>
            <a:off x="7059168" y="1828800"/>
            <a:ext cx="1481328" cy="219456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18" name="Obj num 5"/>
          <p:cNvSpPr txBox="1"/>
          <p:nvPr/>
        </p:nvSpPr>
        <p:spPr>
          <a:xfrm>
            <a:off x="7525512" y="2011680"/>
            <a:ext cx="548640" cy="548640"/>
          </a:xfrm>
          <a:prstGeom prst="ellipse">
            <a:avLst/>
          </a:prstGeom>
          <a:solidFill>
            <a:srgbClr val="B4E3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9" name="Obj text 5"/>
          <p:cNvSpPr txBox="1"/>
          <p:nvPr/>
        </p:nvSpPr>
        <p:spPr>
          <a:xfrm>
            <a:off x="7150608" y="2606040"/>
            <a:ext cx="12984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Deployment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Working web app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System</a:t>
            </a:r>
            <a:endParaRPr lang="en-US" sz="2800" dirty="0"/>
          </a:p>
        </p:txBody>
      </p:sp>
      <p:sp>
        <p:nvSpPr>
          <p:cNvPr id="3" name="Title underline"/>
          <p:cNvSpPr/>
          <p:nvPr/>
        </p:nvSpPr>
        <p:spPr>
          <a:xfrm>
            <a:off x="548640" y="914400"/>
            <a:ext cx="822960" cy="4572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4" name="Card 1"/>
          <p:cNvSpPr/>
          <p:nvPr/>
        </p:nvSpPr>
        <p:spPr>
          <a:xfrm>
            <a:off x="548640" y="128016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5" name="Card 1 accent"/>
          <p:cNvSpPr/>
          <p:nvPr/>
        </p:nvSpPr>
        <p:spPr>
          <a:xfrm>
            <a:off x="731520" y="1463040"/>
            <a:ext cx="365760" cy="54864"/>
          </a:xfrm>
          <a:prstGeom prst="rect">
            <a:avLst/>
          </a:prstGeom>
          <a:solidFill>
            <a:srgbClr val="9ADBE2"/>
          </a:solidFill>
          <a:ln w="12700">
            <a:solidFill>
              <a:srgbClr val="9ADBE2"/>
            </a:solidFill>
            <a:prstDash val="solid"/>
          </a:ln>
        </p:spPr>
      </p:sp>
      <p:sp>
        <p:nvSpPr>
          <p:cNvPr id="6" name="Card 1 text"/>
          <p:cNvSpPr txBox="1"/>
          <p:nvPr/>
        </p:nvSpPr>
        <p:spPr>
          <a:xfrm>
            <a:off x="731520" y="164592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Current approach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Manual reading by analysts, or keyword / dictionary scoring of news.</a:t>
            </a:r>
            <a:endParaRPr lang="en-US" sz="1600" dirty="0"/>
          </a:p>
        </p:txBody>
      </p:sp>
      <p:sp>
        <p:nvSpPr>
          <p:cNvPr id="7" name="Card 2"/>
          <p:cNvSpPr/>
          <p:nvPr/>
        </p:nvSpPr>
        <p:spPr>
          <a:xfrm>
            <a:off x="3291840" y="128016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8" name="Card 2 accent"/>
          <p:cNvSpPr/>
          <p:nvPr/>
        </p:nvSpPr>
        <p:spPr>
          <a:xfrm>
            <a:off x="3474720" y="1463040"/>
            <a:ext cx="365760" cy="54864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9" name="Card 2 text"/>
          <p:cNvSpPr txBox="1"/>
          <p:nvPr/>
        </p:nvSpPr>
        <p:spPr>
          <a:xfrm>
            <a:off x="3474720" y="164592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Technologies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Bag-of-words, TF-IDF with Logistic Regression, Naive Bayes, SVM; general-purpose BERT.</a:t>
            </a:r>
            <a:endParaRPr lang="en-US" sz="1600" dirty="0"/>
          </a:p>
        </p:txBody>
      </p:sp>
      <p:sp>
        <p:nvSpPr>
          <p:cNvPr id="10" name="Card 3"/>
          <p:cNvSpPr/>
          <p:nvPr/>
        </p:nvSpPr>
        <p:spPr>
          <a:xfrm>
            <a:off x="6035040" y="128016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11" name="Card 3 accent"/>
          <p:cNvSpPr/>
          <p:nvPr/>
        </p:nvSpPr>
        <p:spPr>
          <a:xfrm>
            <a:off x="6217920" y="1463040"/>
            <a:ext cx="365760" cy="54864"/>
          </a:xfrm>
          <a:prstGeom prst="rect">
            <a:avLst/>
          </a:prstGeom>
          <a:solidFill>
            <a:srgbClr val="F5D488"/>
          </a:solidFill>
          <a:ln w="12700">
            <a:solidFill>
              <a:srgbClr val="F5D488"/>
            </a:solidFill>
            <a:prstDash val="solid"/>
          </a:ln>
        </p:spPr>
      </p:sp>
      <p:sp>
        <p:nvSpPr>
          <p:cNvPr id="12" name="Card 3 text"/>
          <p:cNvSpPr txBox="1"/>
          <p:nvPr/>
        </p:nvSpPr>
        <p:spPr>
          <a:xfrm>
            <a:off x="6217920" y="164592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Limitations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context or word order. Words treated independently. Weak on mild positive news (33% of positives missed).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System</a:t>
            </a:r>
            <a:endParaRPr lang="en-US" sz="2800" dirty="0"/>
          </a:p>
        </p:txBody>
      </p:sp>
      <p:sp>
        <p:nvSpPr>
          <p:cNvPr id="3" name="Title underline"/>
          <p:cNvSpPr/>
          <p:nvPr/>
        </p:nvSpPr>
        <p:spPr>
          <a:xfrm>
            <a:off x="548640" y="914400"/>
            <a:ext cx="822960" cy="4572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4" name="Step 1"/>
          <p:cNvSpPr/>
          <p:nvPr/>
        </p:nvSpPr>
        <p:spPr>
          <a:xfrm>
            <a:off x="548640" y="1051560"/>
            <a:ext cx="1371600" cy="1234440"/>
          </a:xfrm>
          <a:prstGeom prst="roundRect">
            <a:avLst>
              <a:gd name="adj" fmla="val 8889"/>
            </a:avLst>
          </a:prstGeom>
          <a:solidFill>
            <a:srgbClr val="9ADBE2"/>
          </a:solidFill>
          <a:ln w="12700">
            <a:solidFill>
              <a:srgbClr val="9ADBE2"/>
            </a:solidFill>
            <a:prstDash val="solid"/>
          </a:ln>
        </p:spPr>
      </p:sp>
      <p:sp>
        <p:nvSpPr>
          <p:cNvPr id="5" name="Step text 1"/>
          <p:cNvSpPr txBox="1"/>
          <p:nvPr/>
        </p:nvSpPr>
        <p:spPr>
          <a:xfrm>
            <a:off x="594360" y="105156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Input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Financial sentence</a:t>
            </a:r>
            <a:endParaRPr lang="en-US" sz="1400" dirty="0"/>
          </a:p>
        </p:txBody>
      </p:sp>
      <p:sp>
        <p:nvSpPr>
          <p:cNvPr id="6" name="Arrow 1"/>
          <p:cNvSpPr txBox="1"/>
          <p:nvPr/>
        </p:nvSpPr>
        <p:spPr>
          <a:xfrm>
            <a:off x="1920240" y="13258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›</a:t>
            </a:r>
            <a:endParaRPr lang="en-US" sz="2400" dirty="0"/>
          </a:p>
        </p:txBody>
      </p:sp>
      <p:sp>
        <p:nvSpPr>
          <p:cNvPr id="7" name="Step 2"/>
          <p:cNvSpPr/>
          <p:nvPr/>
        </p:nvSpPr>
        <p:spPr>
          <a:xfrm>
            <a:off x="2176272" y="1051560"/>
            <a:ext cx="1371600" cy="1234440"/>
          </a:xfrm>
          <a:prstGeom prst="roundRect">
            <a:avLst>
              <a:gd name="adj" fmla="val 8889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8" name="Step text 2"/>
          <p:cNvSpPr txBox="1"/>
          <p:nvPr/>
        </p:nvSpPr>
        <p:spPr>
          <a:xfrm>
            <a:off x="2221992" y="105156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Preprocess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Clean, dedupe, split 70/15/15</a:t>
            </a:r>
            <a:endParaRPr lang="en-US" sz="1400" dirty="0"/>
          </a:p>
        </p:txBody>
      </p:sp>
      <p:sp>
        <p:nvSpPr>
          <p:cNvPr id="9" name="Arrow 2"/>
          <p:cNvSpPr txBox="1"/>
          <p:nvPr/>
        </p:nvSpPr>
        <p:spPr>
          <a:xfrm>
            <a:off x="3547872" y="13258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›</a:t>
            </a:r>
            <a:endParaRPr lang="en-US" sz="2400" dirty="0"/>
          </a:p>
        </p:txBody>
      </p:sp>
      <p:sp>
        <p:nvSpPr>
          <p:cNvPr id="10" name="Step 3"/>
          <p:cNvSpPr/>
          <p:nvPr/>
        </p:nvSpPr>
        <p:spPr>
          <a:xfrm>
            <a:off x="3803904" y="1051560"/>
            <a:ext cx="1371600" cy="1234440"/>
          </a:xfrm>
          <a:prstGeom prst="roundRect">
            <a:avLst>
              <a:gd name="adj" fmla="val 8889"/>
            </a:avLst>
          </a:prstGeom>
          <a:solidFill>
            <a:srgbClr val="F5D488"/>
          </a:solidFill>
          <a:ln w="12700">
            <a:solidFill>
              <a:srgbClr val="F5D488"/>
            </a:solidFill>
            <a:prstDash val="solid"/>
          </a:ln>
        </p:spPr>
      </p:sp>
      <p:sp>
        <p:nvSpPr>
          <p:cNvPr id="11" name="Step text 3"/>
          <p:cNvSpPr txBox="1"/>
          <p:nvPr/>
        </p:nvSpPr>
        <p:spPr>
          <a:xfrm>
            <a:off x="3849624" y="105156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Models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TF-IDF baselines and fine-tuned FinBERT</a:t>
            </a:r>
            <a:endParaRPr lang="en-US" sz="1400" dirty="0"/>
          </a:p>
        </p:txBody>
      </p:sp>
      <p:sp>
        <p:nvSpPr>
          <p:cNvPr id="12" name="Arrow 3"/>
          <p:cNvSpPr txBox="1"/>
          <p:nvPr/>
        </p:nvSpPr>
        <p:spPr>
          <a:xfrm>
            <a:off x="5175504" y="13258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›</a:t>
            </a:r>
            <a:endParaRPr lang="en-US" sz="2400" dirty="0"/>
          </a:p>
        </p:txBody>
      </p:sp>
      <p:sp>
        <p:nvSpPr>
          <p:cNvPr id="13" name="Step 4"/>
          <p:cNvSpPr/>
          <p:nvPr/>
        </p:nvSpPr>
        <p:spPr>
          <a:xfrm>
            <a:off x="5431536" y="1051560"/>
            <a:ext cx="1371600" cy="1234440"/>
          </a:xfrm>
          <a:prstGeom prst="roundRect">
            <a:avLst>
              <a:gd name="adj" fmla="val 8889"/>
            </a:avLst>
          </a:prstGeom>
          <a:solidFill>
            <a:srgbClr val="C5D3E6"/>
          </a:solidFill>
          <a:ln w="12700">
            <a:solidFill>
              <a:srgbClr val="C5D3E6"/>
            </a:solidFill>
            <a:prstDash val="solid"/>
          </a:ln>
        </p:spPr>
      </p:sp>
      <p:sp>
        <p:nvSpPr>
          <p:cNvPr id="14" name="Step text 4"/>
          <p:cNvSpPr txBox="1"/>
          <p:nvPr/>
        </p:nvSpPr>
        <p:spPr>
          <a:xfrm>
            <a:off x="5477256" y="105156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Evaluate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splits, same metrics</a:t>
            </a:r>
            <a:endParaRPr lang="en-US" sz="1400" dirty="0"/>
          </a:p>
        </p:txBody>
      </p:sp>
      <p:sp>
        <p:nvSpPr>
          <p:cNvPr id="15" name="Arrow 4"/>
          <p:cNvSpPr txBox="1"/>
          <p:nvPr/>
        </p:nvSpPr>
        <p:spPr>
          <a:xfrm>
            <a:off x="6803136" y="13258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›</a:t>
            </a:r>
            <a:endParaRPr lang="en-US" sz="2400" dirty="0"/>
          </a:p>
        </p:txBody>
      </p:sp>
      <p:sp>
        <p:nvSpPr>
          <p:cNvPr id="16" name="Step 5"/>
          <p:cNvSpPr/>
          <p:nvPr/>
        </p:nvSpPr>
        <p:spPr>
          <a:xfrm>
            <a:off x="7059168" y="1051560"/>
            <a:ext cx="1371600" cy="1234440"/>
          </a:xfrm>
          <a:prstGeom prst="roundRect">
            <a:avLst>
              <a:gd name="adj" fmla="val 8889"/>
            </a:avLst>
          </a:prstGeom>
          <a:solidFill>
            <a:srgbClr val="B4E3DC"/>
          </a:solidFill>
          <a:ln w="12700">
            <a:solidFill>
              <a:srgbClr val="B4E3DC"/>
            </a:solidFill>
            <a:prstDash val="solid"/>
          </a:ln>
        </p:spPr>
      </p:sp>
      <p:sp>
        <p:nvSpPr>
          <p:cNvPr id="17" name="Step text 5"/>
          <p:cNvSpPr txBox="1"/>
          <p:nvPr/>
        </p:nvSpPr>
        <p:spPr>
          <a:xfrm>
            <a:off x="7104888" y="105156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Deploy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FastAPI + web app</a:t>
            </a:r>
            <a:endParaRPr lang="en-US" sz="1400" dirty="0"/>
          </a:p>
        </p:txBody>
      </p:sp>
      <p:sp>
        <p:nvSpPr>
          <p:cNvPr id="18" name="Fix 1"/>
          <p:cNvSpPr/>
          <p:nvPr/>
        </p:nvSpPr>
        <p:spPr>
          <a:xfrm>
            <a:off x="548640" y="251460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19" name="Fix 1 accent"/>
          <p:cNvSpPr/>
          <p:nvPr/>
        </p:nvSpPr>
        <p:spPr>
          <a:xfrm>
            <a:off x="731520" y="2697480"/>
            <a:ext cx="365760" cy="54864"/>
          </a:xfrm>
          <a:prstGeom prst="rect">
            <a:avLst/>
          </a:prstGeom>
          <a:solidFill>
            <a:srgbClr val="9ADBE2"/>
          </a:solidFill>
          <a:ln w="12700">
            <a:solidFill>
              <a:srgbClr val="9ADBE2"/>
            </a:solidFill>
            <a:prstDash val="solid"/>
          </a:ln>
        </p:spPr>
      </p:sp>
      <p:sp>
        <p:nvSpPr>
          <p:cNvPr id="20" name="Fix 1 text"/>
          <p:cNvSpPr txBox="1"/>
          <p:nvPr/>
        </p:nvSpPr>
        <p:spPr>
          <a:xfrm>
            <a:off x="731520" y="2880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No context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FinBERT reads both directions</a:t>
            </a:r>
            <a:endParaRPr lang="en-US" sz="1600" dirty="0"/>
          </a:p>
        </p:txBody>
      </p:sp>
      <p:sp>
        <p:nvSpPr>
          <p:cNvPr id="21" name="Fix 2"/>
          <p:cNvSpPr/>
          <p:nvPr/>
        </p:nvSpPr>
        <p:spPr>
          <a:xfrm>
            <a:off x="3291840" y="251460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22" name="Fix 2 accent"/>
          <p:cNvSpPr/>
          <p:nvPr/>
        </p:nvSpPr>
        <p:spPr>
          <a:xfrm>
            <a:off x="3474720" y="2697480"/>
            <a:ext cx="365760" cy="54864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23" name="Fix 2 text"/>
          <p:cNvSpPr txBox="1"/>
          <p:nvPr/>
        </p:nvSpPr>
        <p:spPr>
          <a:xfrm>
            <a:off x="3474720" y="2880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Finance jargon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Pre-trained on finance text</a:t>
            </a:r>
            <a:endParaRPr lang="en-US" sz="1600" dirty="0"/>
          </a:p>
        </p:txBody>
      </p:sp>
      <p:sp>
        <p:nvSpPr>
          <p:cNvPr id="24" name="Fix 3"/>
          <p:cNvSpPr/>
          <p:nvPr/>
        </p:nvSpPr>
        <p:spPr>
          <a:xfrm>
            <a:off x="6035040" y="251460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25" name="Fix 3 accent"/>
          <p:cNvSpPr/>
          <p:nvPr/>
        </p:nvSpPr>
        <p:spPr>
          <a:xfrm>
            <a:off x="6217920" y="2697480"/>
            <a:ext cx="365760" cy="54864"/>
          </a:xfrm>
          <a:prstGeom prst="rect">
            <a:avLst/>
          </a:prstGeom>
          <a:solidFill>
            <a:srgbClr val="F5D488"/>
          </a:solidFill>
          <a:ln w="12700">
            <a:solidFill>
              <a:srgbClr val="F5D488"/>
            </a:solidFill>
            <a:prstDash val="solid"/>
          </a:ln>
        </p:spPr>
      </p:sp>
      <p:sp>
        <p:nvSpPr>
          <p:cNvPr id="26" name="Fix 3 text"/>
          <p:cNvSpPr txBox="1"/>
          <p:nvPr/>
        </p:nvSpPr>
        <p:spPr>
          <a:xfrm>
            <a:off x="6217920" y="2880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Class imbalance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 weights + macro-F1</a:t>
            </a:r>
            <a:endParaRPr lang="en-US" sz="1600" dirty="0"/>
          </a:p>
        </p:txBody>
      </p:sp>
      <p:sp>
        <p:nvSpPr>
          <p:cNvPr id="27" name="takeaway"/>
          <p:cNvSpPr txBox="1"/>
          <p:nvPr/>
        </p:nvSpPr>
        <p:spPr>
          <a:xfrm>
            <a:off x="548640" y="4160520"/>
            <a:ext cx="8046720" cy="411480"/>
          </a:xfrm>
          <a:prstGeom prst="roundRect">
            <a:avLst>
              <a:gd name="adj" fmla="val 44444"/>
            </a:avLst>
          </a:prstGeom>
          <a:solidFill>
            <a:srgbClr val="0E7C8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Output: label + confidence + class scores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itle underline"/>
          <p:cNvSpPr/>
          <p:nvPr/>
        </p:nvSpPr>
        <p:spPr>
          <a:xfrm>
            <a:off x="548640" y="914400"/>
            <a:ext cx="822960" cy="4572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4" name="Arch 1"/>
          <p:cNvSpPr/>
          <p:nvPr/>
        </p:nvSpPr>
        <p:spPr>
          <a:xfrm>
            <a:off x="548640" y="1051560"/>
            <a:ext cx="1371600" cy="1783080"/>
          </a:xfrm>
          <a:prstGeom prst="roundRect">
            <a:avLst>
              <a:gd name="adj" fmla="val 8000"/>
            </a:avLst>
          </a:prstGeom>
          <a:solidFill>
            <a:srgbClr val="9ADBE2"/>
          </a:solidFill>
          <a:ln w="12700">
            <a:solidFill>
              <a:srgbClr val="9ADBE2"/>
            </a:solidFill>
            <a:prstDash val="solid"/>
          </a:ln>
        </p:spPr>
      </p:sp>
      <p:sp>
        <p:nvSpPr>
          <p:cNvPr id="5" name="Arch text 1"/>
          <p:cNvSpPr txBox="1"/>
          <p:nvPr/>
        </p:nvSpPr>
        <p:spPr>
          <a:xfrm>
            <a:off x="594360" y="1051560"/>
            <a:ext cx="1280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Input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Financial sentence / headline (1-2,000 chars)</a:t>
            </a:r>
            <a:endParaRPr lang="en-US" sz="1300" dirty="0"/>
          </a:p>
        </p:txBody>
      </p:sp>
      <p:sp>
        <p:nvSpPr>
          <p:cNvPr id="6" name="Arrow 1"/>
          <p:cNvSpPr txBox="1"/>
          <p:nvPr/>
        </p:nvSpPr>
        <p:spPr>
          <a:xfrm>
            <a:off x="1920240" y="17373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›</a:t>
            </a:r>
            <a:endParaRPr lang="en-US" sz="2400" dirty="0"/>
          </a:p>
        </p:txBody>
      </p:sp>
      <p:sp>
        <p:nvSpPr>
          <p:cNvPr id="7" name="Arch 2"/>
          <p:cNvSpPr/>
          <p:nvPr/>
        </p:nvSpPr>
        <p:spPr>
          <a:xfrm>
            <a:off x="2176272" y="1051560"/>
            <a:ext cx="1371600" cy="1783080"/>
          </a:xfrm>
          <a:prstGeom prst="roundRect">
            <a:avLst>
              <a:gd name="adj" fmla="val 8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8" name="Arch text 2"/>
          <p:cNvSpPr txBox="1"/>
          <p:nvPr/>
        </p:nvSpPr>
        <p:spPr>
          <a:xfrm>
            <a:off x="2221992" y="1051560"/>
            <a:ext cx="1280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User interface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index.html with fetch(); single + batch tabs</a:t>
            </a:r>
            <a:endParaRPr lang="en-US" sz="1300" dirty="0"/>
          </a:p>
        </p:txBody>
      </p:sp>
      <p:sp>
        <p:nvSpPr>
          <p:cNvPr id="9" name="Arrow 2"/>
          <p:cNvSpPr txBox="1"/>
          <p:nvPr/>
        </p:nvSpPr>
        <p:spPr>
          <a:xfrm>
            <a:off x="3547872" y="17373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›</a:t>
            </a:r>
            <a:endParaRPr lang="en-US" sz="2400" dirty="0"/>
          </a:p>
        </p:txBody>
      </p:sp>
      <p:sp>
        <p:nvSpPr>
          <p:cNvPr id="10" name="Arch 3"/>
          <p:cNvSpPr/>
          <p:nvPr/>
        </p:nvSpPr>
        <p:spPr>
          <a:xfrm>
            <a:off x="3803904" y="1051560"/>
            <a:ext cx="1371600" cy="1783080"/>
          </a:xfrm>
          <a:prstGeom prst="roundRect">
            <a:avLst>
              <a:gd name="adj" fmla="val 8000"/>
            </a:avLst>
          </a:prstGeom>
          <a:solidFill>
            <a:srgbClr val="F5D488"/>
          </a:solidFill>
          <a:ln w="12700">
            <a:solidFill>
              <a:srgbClr val="F5D488"/>
            </a:solidFill>
            <a:prstDash val="solid"/>
          </a:ln>
        </p:spPr>
      </p:sp>
      <p:sp>
        <p:nvSpPr>
          <p:cNvPr id="11" name="Arch text 3"/>
          <p:cNvSpPr txBox="1"/>
          <p:nvPr/>
        </p:nvSpPr>
        <p:spPr>
          <a:xfrm>
            <a:off x="3849624" y="1051560"/>
            <a:ext cx="1280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API / modules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FastAPI: /health, /predict, /predict/batch; predict.py</a:t>
            </a:r>
            <a:endParaRPr lang="en-US" sz="1300" dirty="0"/>
          </a:p>
        </p:txBody>
      </p:sp>
      <p:sp>
        <p:nvSpPr>
          <p:cNvPr id="12" name="Arrow 3"/>
          <p:cNvSpPr txBox="1"/>
          <p:nvPr/>
        </p:nvSpPr>
        <p:spPr>
          <a:xfrm>
            <a:off x="5175504" y="17373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›</a:t>
            </a:r>
            <a:endParaRPr lang="en-US" sz="2400" dirty="0"/>
          </a:p>
        </p:txBody>
      </p:sp>
      <p:sp>
        <p:nvSpPr>
          <p:cNvPr id="13" name="Arch 4"/>
          <p:cNvSpPr/>
          <p:nvPr/>
        </p:nvSpPr>
        <p:spPr>
          <a:xfrm>
            <a:off x="5431536" y="1051560"/>
            <a:ext cx="1371600" cy="1783080"/>
          </a:xfrm>
          <a:prstGeom prst="roundRect">
            <a:avLst>
              <a:gd name="adj" fmla="val 8000"/>
            </a:avLst>
          </a:prstGeom>
          <a:solidFill>
            <a:srgbClr val="C5D3E6"/>
          </a:solidFill>
          <a:ln w="12700">
            <a:solidFill>
              <a:srgbClr val="C5D3E6"/>
            </a:solidFill>
            <a:prstDash val="solid"/>
          </a:ln>
        </p:spPr>
      </p:sp>
      <p:sp>
        <p:nvSpPr>
          <p:cNvPr id="14" name="Arch text 4"/>
          <p:cNvSpPr txBox="1"/>
          <p:nvPr/>
        </p:nvSpPr>
        <p:spPr>
          <a:xfrm>
            <a:off x="5477256" y="1051560"/>
            <a:ext cx="1280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FinBERT, labels from config</a:t>
            </a:r>
            <a:endParaRPr lang="en-US" sz="1300" dirty="0"/>
          </a:p>
        </p:txBody>
      </p:sp>
      <p:sp>
        <p:nvSpPr>
          <p:cNvPr id="15" name="Arrow 4"/>
          <p:cNvSpPr txBox="1"/>
          <p:nvPr/>
        </p:nvSpPr>
        <p:spPr>
          <a:xfrm>
            <a:off x="6803136" y="17373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›</a:t>
            </a:r>
            <a:endParaRPr lang="en-US" sz="2400" dirty="0"/>
          </a:p>
        </p:txBody>
      </p:sp>
      <p:sp>
        <p:nvSpPr>
          <p:cNvPr id="16" name="Arch 5"/>
          <p:cNvSpPr/>
          <p:nvPr/>
        </p:nvSpPr>
        <p:spPr>
          <a:xfrm>
            <a:off x="7059168" y="1051560"/>
            <a:ext cx="1371600" cy="1783080"/>
          </a:xfrm>
          <a:prstGeom prst="roundRect">
            <a:avLst>
              <a:gd name="adj" fmla="val 8000"/>
            </a:avLst>
          </a:prstGeom>
          <a:solidFill>
            <a:srgbClr val="B4E3DC"/>
          </a:solidFill>
          <a:ln w="12700">
            <a:solidFill>
              <a:srgbClr val="B4E3DC"/>
            </a:solidFill>
            <a:prstDash val="solid"/>
          </a:ln>
        </p:spPr>
      </p:sp>
      <p:sp>
        <p:nvSpPr>
          <p:cNvPr id="17" name="Arch text 5"/>
          <p:cNvSpPr txBox="1"/>
          <p:nvPr/>
        </p:nvSpPr>
        <p:spPr>
          <a:xfrm>
            <a:off x="7104888" y="1051560"/>
            <a:ext cx="1280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Output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JSON: label, confidence, scores; colour-coded result</a:t>
            </a:r>
            <a:endParaRPr lang="en-US" sz="1300" dirty="0"/>
          </a:p>
        </p:txBody>
      </p:sp>
      <p:sp>
        <p:nvSpPr>
          <p:cNvPr id="18" name="Offline lane"/>
          <p:cNvSpPr/>
          <p:nvPr/>
        </p:nvSpPr>
        <p:spPr>
          <a:xfrm>
            <a:off x="548640" y="3063240"/>
            <a:ext cx="8046720" cy="1417320"/>
          </a:xfrm>
          <a:prstGeom prst="roundRect">
            <a:avLst>
              <a:gd name="adj" fmla="val 7742"/>
            </a:avLst>
          </a:prstGeom>
          <a:solidFill>
            <a:srgbClr val="E6EEF7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19" name="Offline label"/>
          <p:cNvSpPr txBox="1"/>
          <p:nvPr/>
        </p:nvSpPr>
        <p:spPr>
          <a:xfrm>
            <a:off x="731520" y="31272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OFFLINE LANE: run once, produces the model file</a:t>
            </a:r>
            <a:endParaRPr lang="en-US" sz="1100" dirty="0"/>
          </a:p>
        </p:txBody>
      </p:sp>
      <p:sp>
        <p:nvSpPr>
          <p:cNvPr id="20" name="Offline 1"/>
          <p:cNvSpPr txBox="1"/>
          <p:nvPr/>
        </p:nvSpPr>
        <p:spPr>
          <a:xfrm>
            <a:off x="731520" y="3474720"/>
            <a:ext cx="137160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CFDAE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PhraseBank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4,838 sentences</a:t>
            </a:r>
            <a:endParaRPr lang="en-US" sz="1050" dirty="0"/>
          </a:p>
        </p:txBody>
      </p:sp>
      <p:sp>
        <p:nvSpPr>
          <p:cNvPr id="21" name="Offline 2"/>
          <p:cNvSpPr txBox="1"/>
          <p:nvPr/>
        </p:nvSpPr>
        <p:spPr>
          <a:xfrm>
            <a:off x="2286000" y="3474720"/>
            <a:ext cx="137160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CFDAE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Clean + split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stratified</a:t>
            </a:r>
            <a:endParaRPr lang="en-US" sz="1050" dirty="0"/>
          </a:p>
        </p:txBody>
      </p:sp>
      <p:sp>
        <p:nvSpPr>
          <p:cNvPr id="22" name="Offline 3"/>
          <p:cNvSpPr txBox="1"/>
          <p:nvPr/>
        </p:nvSpPr>
        <p:spPr>
          <a:xfrm>
            <a:off x="3840480" y="3474720"/>
            <a:ext cx="137160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CFDAE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TF-IDF baselines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5-fold CV</a:t>
            </a:r>
            <a:endParaRPr lang="en-US" sz="1050" dirty="0"/>
          </a:p>
        </p:txBody>
      </p:sp>
      <p:sp>
        <p:nvSpPr>
          <p:cNvPr id="23" name="Offline 4"/>
          <p:cNvSpPr txBox="1"/>
          <p:nvPr/>
        </p:nvSpPr>
        <p:spPr>
          <a:xfrm>
            <a:off x="5394960" y="3474720"/>
            <a:ext cx="137160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CFDAE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Fine-tune FinBERT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4 epochs, save best</a:t>
            </a:r>
            <a:endParaRPr lang="en-US" sz="1050" dirty="0"/>
          </a:p>
        </p:txBody>
      </p:sp>
      <p:sp>
        <p:nvSpPr>
          <p:cNvPr id="24" name="Offline 5"/>
          <p:cNvSpPr txBox="1"/>
          <p:nvPr/>
        </p:nvSpPr>
        <p:spPr>
          <a:xfrm>
            <a:off x="6949440" y="3474720"/>
            <a:ext cx="137160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CFDAE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Evaluate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test and compare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/ Workflow</a:t>
            </a:r>
            <a:endParaRPr lang="en-US" sz="2800" dirty="0"/>
          </a:p>
        </p:txBody>
      </p:sp>
      <p:sp>
        <p:nvSpPr>
          <p:cNvPr id="3" name="Title underline"/>
          <p:cNvSpPr/>
          <p:nvPr/>
        </p:nvSpPr>
        <p:spPr>
          <a:xfrm>
            <a:off x="548640" y="914400"/>
            <a:ext cx="822960" cy="4572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4" name="Flow 1"/>
          <p:cNvSpPr txBox="1"/>
          <p:nvPr/>
        </p:nvSpPr>
        <p:spPr>
          <a:xfrm>
            <a:off x="548640" y="1051560"/>
            <a:ext cx="1828800" cy="502920"/>
          </a:xfrm>
          <a:prstGeom prst="roundRect">
            <a:avLst>
              <a:gd name="adj" fmla="val 36364"/>
            </a:avLst>
          </a:prstGeom>
          <a:solidFill>
            <a:srgbClr val="9ADB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Load PhraseBank</a:t>
            </a:r>
            <a:endParaRPr lang="en-US" sz="1300" dirty="0"/>
          </a:p>
        </p:txBody>
      </p:sp>
      <p:sp>
        <p:nvSpPr>
          <p:cNvPr id="5" name="Flow arrow 1"/>
          <p:cNvSpPr txBox="1"/>
          <p:nvPr/>
        </p:nvSpPr>
        <p:spPr>
          <a:xfrm>
            <a:off x="2377440" y="105156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›</a:t>
            </a:r>
            <a:endParaRPr lang="en-US" sz="2200" dirty="0"/>
          </a:p>
        </p:txBody>
      </p:sp>
      <p:sp>
        <p:nvSpPr>
          <p:cNvPr id="6" name="Flow 2"/>
          <p:cNvSpPr txBox="1"/>
          <p:nvPr/>
        </p:nvSpPr>
        <p:spPr>
          <a:xfrm>
            <a:off x="2606040" y="1051560"/>
            <a:ext cx="1828800" cy="502920"/>
          </a:xfrm>
          <a:prstGeom prst="roundRect">
            <a:avLst>
              <a:gd name="adj" fmla="val 36364"/>
            </a:avLst>
          </a:prstGeom>
          <a:solidFill>
            <a:srgbClr val="A9C4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Remove duplicates</a:t>
            </a:r>
            <a:endParaRPr lang="en-US" sz="1300" dirty="0"/>
          </a:p>
        </p:txBody>
      </p:sp>
      <p:sp>
        <p:nvSpPr>
          <p:cNvPr id="7" name="Flow arrow 2"/>
          <p:cNvSpPr txBox="1"/>
          <p:nvPr/>
        </p:nvSpPr>
        <p:spPr>
          <a:xfrm>
            <a:off x="4434840" y="105156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›</a:t>
            </a:r>
            <a:endParaRPr lang="en-US" sz="2200" dirty="0"/>
          </a:p>
        </p:txBody>
      </p:sp>
      <p:sp>
        <p:nvSpPr>
          <p:cNvPr id="8" name="Flow 3"/>
          <p:cNvSpPr txBox="1"/>
          <p:nvPr/>
        </p:nvSpPr>
        <p:spPr>
          <a:xfrm>
            <a:off x="4663440" y="1051560"/>
            <a:ext cx="1828800" cy="502920"/>
          </a:xfrm>
          <a:prstGeom prst="roundRect">
            <a:avLst>
              <a:gd name="adj" fmla="val 36364"/>
            </a:avLst>
          </a:prstGeom>
          <a:solidFill>
            <a:srgbClr val="F5D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Split 70/15/15</a:t>
            </a:r>
            <a:endParaRPr lang="en-US" sz="1300" dirty="0"/>
          </a:p>
        </p:txBody>
      </p:sp>
      <p:sp>
        <p:nvSpPr>
          <p:cNvPr id="9" name="Flow arrow 3"/>
          <p:cNvSpPr txBox="1"/>
          <p:nvPr/>
        </p:nvSpPr>
        <p:spPr>
          <a:xfrm>
            <a:off x="6492240" y="105156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›</a:t>
            </a:r>
            <a:endParaRPr lang="en-US" sz="2200" dirty="0"/>
          </a:p>
        </p:txBody>
      </p:sp>
      <p:sp>
        <p:nvSpPr>
          <p:cNvPr id="10" name="Flow 4"/>
          <p:cNvSpPr txBox="1"/>
          <p:nvPr/>
        </p:nvSpPr>
        <p:spPr>
          <a:xfrm>
            <a:off x="6720840" y="1051560"/>
            <a:ext cx="1828800" cy="502920"/>
          </a:xfrm>
          <a:prstGeom prst="roundRect">
            <a:avLst>
              <a:gd name="adj" fmla="val 36364"/>
            </a:avLst>
          </a:prstGeom>
          <a:solidFill>
            <a:srgbClr val="C5D3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EDA</a:t>
            </a:r>
            <a:endParaRPr lang="en-US" sz="1300" dirty="0"/>
          </a:p>
        </p:txBody>
      </p:sp>
      <p:sp>
        <p:nvSpPr>
          <p:cNvPr id="11" name="Path A"/>
          <p:cNvSpPr/>
          <p:nvPr/>
        </p:nvSpPr>
        <p:spPr>
          <a:xfrm>
            <a:off x="548640" y="1783080"/>
            <a:ext cx="39319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12" name="Path A accent"/>
          <p:cNvSpPr/>
          <p:nvPr/>
        </p:nvSpPr>
        <p:spPr>
          <a:xfrm>
            <a:off x="731520" y="1965960"/>
            <a:ext cx="365760" cy="54864"/>
          </a:xfrm>
          <a:prstGeom prst="rect">
            <a:avLst/>
          </a:prstGeom>
          <a:solidFill>
            <a:srgbClr val="3E6FA8"/>
          </a:solidFill>
          <a:ln w="12700">
            <a:solidFill>
              <a:srgbClr val="3E6FA8"/>
            </a:solidFill>
            <a:prstDash val="solid"/>
          </a:ln>
        </p:spPr>
      </p:sp>
      <p:sp>
        <p:nvSpPr>
          <p:cNvPr id="13" name="Path A text"/>
          <p:cNvSpPr txBox="1"/>
          <p:nvPr/>
        </p:nvSpPr>
        <p:spPr>
          <a:xfrm>
            <a:off x="731520" y="21488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Traditional ML path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Stem + TF-IDF (1-2 grams). Train LogReg / SVM / NB with 5-fold CV, on train only.</a:t>
            </a:r>
            <a:endParaRPr lang="en-US" sz="1600" dirty="0"/>
          </a:p>
        </p:txBody>
      </p:sp>
      <p:sp>
        <p:nvSpPr>
          <p:cNvPr id="14" name="Path B"/>
          <p:cNvSpPr/>
          <p:nvPr/>
        </p:nvSpPr>
        <p:spPr>
          <a:xfrm>
            <a:off x="4663440" y="1783080"/>
            <a:ext cx="39319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15" name="Path B accent"/>
          <p:cNvSpPr/>
          <p:nvPr/>
        </p:nvSpPr>
        <p:spPr>
          <a:xfrm>
            <a:off x="4846320" y="1965960"/>
            <a:ext cx="36576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Path B text"/>
          <p:cNvSpPr txBox="1"/>
          <p:nvPr/>
        </p:nvSpPr>
        <p:spPr>
          <a:xfrm>
            <a:off x="4846320" y="21488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FinBERT path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Tokenise raw text (128 tokens). Fine-tune FinBERT with class-weighted loss.</a:t>
            </a:r>
            <a:endParaRPr lang="en-US" sz="1600" dirty="0"/>
          </a:p>
        </p:txBody>
      </p:sp>
      <p:sp>
        <p:nvSpPr>
          <p:cNvPr id="17" name="Decision"/>
          <p:cNvSpPr txBox="1"/>
          <p:nvPr/>
        </p:nvSpPr>
        <p:spPr>
          <a:xfrm>
            <a:off x="548640" y="3520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Val macro-F1 improved?  Yes: save best.  No: early stop.</a:t>
            </a:r>
            <a:endParaRPr lang="en-US" sz="1400" dirty="0"/>
          </a:p>
        </p:txBody>
      </p:sp>
      <p:sp>
        <p:nvSpPr>
          <p:cNvPr id="18" name="takeaway"/>
          <p:cNvSpPr txBox="1"/>
          <p:nvPr/>
        </p:nvSpPr>
        <p:spPr>
          <a:xfrm>
            <a:off x="548640" y="4160520"/>
            <a:ext cx="8046720" cy="411480"/>
          </a:xfrm>
          <a:prstGeom prst="roundRect">
            <a:avLst>
              <a:gd name="adj" fmla="val 44444"/>
            </a:avLst>
          </a:prstGeom>
          <a:solidFill>
            <a:srgbClr val="0E7C8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Evaluate on locked test set, compare models, deploy FastAPI app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itle underline"/>
          <p:cNvSpPr/>
          <p:nvPr/>
        </p:nvSpPr>
        <p:spPr>
          <a:xfrm>
            <a:off x="548640" y="914400"/>
            <a:ext cx="822960" cy="4572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4" name="Tech 1"/>
          <p:cNvSpPr/>
          <p:nvPr/>
        </p:nvSpPr>
        <p:spPr>
          <a:xfrm>
            <a:off x="548640" y="109728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5" name="Tech 1 accent"/>
          <p:cNvSpPr/>
          <p:nvPr/>
        </p:nvSpPr>
        <p:spPr>
          <a:xfrm>
            <a:off x="731520" y="1280160"/>
            <a:ext cx="365760" cy="54864"/>
          </a:xfrm>
          <a:prstGeom prst="rect">
            <a:avLst/>
          </a:prstGeom>
          <a:solidFill>
            <a:srgbClr val="9ADBE2"/>
          </a:solidFill>
          <a:ln w="12700">
            <a:solidFill>
              <a:srgbClr val="9ADBE2"/>
            </a:solidFill>
            <a:prstDash val="solid"/>
          </a:ln>
        </p:spPr>
      </p:sp>
      <p:sp>
        <p:nvSpPr>
          <p:cNvPr id="6" name="Tech 1 text"/>
          <p:cNvSpPr txBox="1"/>
          <p:nvPr/>
        </p:nvSpPr>
        <p:spPr>
          <a:xfrm>
            <a:off x="73152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Languages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Python; HTML, CSS, JavaScript</a:t>
            </a:r>
            <a:endParaRPr lang="en-US" sz="1600" dirty="0"/>
          </a:p>
        </p:txBody>
      </p:sp>
      <p:sp>
        <p:nvSpPr>
          <p:cNvPr id="7" name="Tech 2"/>
          <p:cNvSpPr/>
          <p:nvPr/>
        </p:nvSpPr>
        <p:spPr>
          <a:xfrm>
            <a:off x="3291840" y="109728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8" name="Tech 2 accent"/>
          <p:cNvSpPr/>
          <p:nvPr/>
        </p:nvSpPr>
        <p:spPr>
          <a:xfrm>
            <a:off x="3474720" y="1280160"/>
            <a:ext cx="365760" cy="54864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9" name="Tech 2 text"/>
          <p:cNvSpPr txBox="1"/>
          <p:nvPr/>
        </p:nvSpPr>
        <p:spPr>
          <a:xfrm>
            <a:off x="347472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Frameworks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FastAPI, PyTorch, Hugging Face Transformers</a:t>
            </a:r>
            <a:endParaRPr lang="en-US" sz="1600" dirty="0"/>
          </a:p>
        </p:txBody>
      </p:sp>
      <p:sp>
        <p:nvSpPr>
          <p:cNvPr id="10" name="Tech 3"/>
          <p:cNvSpPr/>
          <p:nvPr/>
        </p:nvSpPr>
        <p:spPr>
          <a:xfrm>
            <a:off x="6035040" y="109728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11" name="Tech 3 accent"/>
          <p:cNvSpPr/>
          <p:nvPr/>
        </p:nvSpPr>
        <p:spPr>
          <a:xfrm>
            <a:off x="6217920" y="1280160"/>
            <a:ext cx="365760" cy="54864"/>
          </a:xfrm>
          <a:prstGeom prst="rect">
            <a:avLst/>
          </a:prstGeom>
          <a:solidFill>
            <a:srgbClr val="F5D488"/>
          </a:solidFill>
          <a:ln w="12700">
            <a:solidFill>
              <a:srgbClr val="F5D488"/>
            </a:solidFill>
            <a:prstDash val="solid"/>
          </a:ln>
        </p:spPr>
      </p:sp>
      <p:sp>
        <p:nvSpPr>
          <p:cNvPr id="12" name="Tech 3 text"/>
          <p:cNvSpPr txBox="1"/>
          <p:nvPr/>
        </p:nvSpPr>
        <p:spPr>
          <a:xfrm>
            <a:off x="621792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Libraries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Pandas, scikit-learn, NLTK, Matplotlib</a:t>
            </a:r>
            <a:endParaRPr lang="en-US" sz="1600" dirty="0"/>
          </a:p>
        </p:txBody>
      </p:sp>
      <p:sp>
        <p:nvSpPr>
          <p:cNvPr id="13" name="Tech 4"/>
          <p:cNvSpPr/>
          <p:nvPr/>
        </p:nvSpPr>
        <p:spPr>
          <a:xfrm>
            <a:off x="548640" y="256032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14" name="Tech 4 accent"/>
          <p:cNvSpPr/>
          <p:nvPr/>
        </p:nvSpPr>
        <p:spPr>
          <a:xfrm>
            <a:off x="731520" y="2743200"/>
            <a:ext cx="365760" cy="54864"/>
          </a:xfrm>
          <a:prstGeom prst="rect">
            <a:avLst/>
          </a:prstGeom>
          <a:solidFill>
            <a:srgbClr val="C5D3E6"/>
          </a:solidFill>
          <a:ln w="12700">
            <a:solidFill>
              <a:srgbClr val="C5D3E6"/>
            </a:solidFill>
            <a:prstDash val="solid"/>
          </a:ln>
        </p:spPr>
      </p:sp>
      <p:sp>
        <p:nvSpPr>
          <p:cNvPr id="15" name="Tech 4 text"/>
          <p:cNvSpPr txBox="1"/>
          <p:nvPr/>
        </p:nvSpPr>
        <p:spPr>
          <a:xfrm>
            <a:off x="73152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Database / storage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database; saved model files</a:t>
            </a:r>
            <a:endParaRPr lang="en-US" sz="1600" dirty="0"/>
          </a:p>
        </p:txBody>
      </p:sp>
      <p:sp>
        <p:nvSpPr>
          <p:cNvPr id="16" name="Tech 5"/>
          <p:cNvSpPr/>
          <p:nvPr/>
        </p:nvSpPr>
        <p:spPr>
          <a:xfrm>
            <a:off x="3291840" y="256032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17" name="Tech 5 accent"/>
          <p:cNvSpPr/>
          <p:nvPr/>
        </p:nvSpPr>
        <p:spPr>
          <a:xfrm>
            <a:off x="3474720" y="2743200"/>
            <a:ext cx="365760" cy="54864"/>
          </a:xfrm>
          <a:prstGeom prst="rect">
            <a:avLst/>
          </a:prstGeom>
          <a:solidFill>
            <a:srgbClr val="B4E3DC"/>
          </a:solidFill>
          <a:ln w="12700">
            <a:solidFill>
              <a:srgbClr val="B4E3DC"/>
            </a:solidFill>
            <a:prstDash val="solid"/>
          </a:ln>
        </p:spPr>
      </p:sp>
      <p:sp>
        <p:nvSpPr>
          <p:cNvPr id="18" name="Tech 5 text"/>
          <p:cNvSpPr txBox="1"/>
          <p:nvPr/>
        </p:nvSpPr>
        <p:spPr>
          <a:xfrm>
            <a:off x="347472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Hardware / cloud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Google Colab T4 GPU (about 10 min)</a:t>
            </a:r>
            <a:endParaRPr lang="en-US" sz="1600" dirty="0"/>
          </a:p>
        </p:txBody>
      </p:sp>
      <p:sp>
        <p:nvSpPr>
          <p:cNvPr id="19" name="Tech 6"/>
          <p:cNvSpPr/>
          <p:nvPr/>
        </p:nvSpPr>
        <p:spPr>
          <a:xfrm>
            <a:off x="6035040" y="256032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20" name="Tech 6 accent"/>
          <p:cNvSpPr/>
          <p:nvPr/>
        </p:nvSpPr>
        <p:spPr>
          <a:xfrm>
            <a:off x="6217920" y="2743200"/>
            <a:ext cx="365760" cy="54864"/>
          </a:xfrm>
          <a:prstGeom prst="rect">
            <a:avLst/>
          </a:prstGeom>
          <a:solidFill>
            <a:srgbClr val="9ADBE2"/>
          </a:solidFill>
          <a:ln w="12700">
            <a:solidFill>
              <a:srgbClr val="9ADBE2"/>
            </a:solidFill>
            <a:prstDash val="solid"/>
          </a:ln>
        </p:spPr>
      </p:sp>
      <p:sp>
        <p:nvSpPr>
          <p:cNvPr id="21" name="Tech 6 text"/>
          <p:cNvSpPr txBox="1"/>
          <p:nvPr/>
        </p:nvSpPr>
        <p:spPr>
          <a:xfrm>
            <a:off x="621792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Testing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Unit tests for data and baseline code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Modules / Components</a:t>
            </a:r>
            <a:endParaRPr lang="en-US" sz="2800" dirty="0"/>
          </a:p>
        </p:txBody>
      </p:sp>
      <p:sp>
        <p:nvSpPr>
          <p:cNvPr id="3" name="Title underline"/>
          <p:cNvSpPr/>
          <p:nvPr/>
        </p:nvSpPr>
        <p:spPr>
          <a:xfrm>
            <a:off x="548640" y="914400"/>
            <a:ext cx="822960" cy="4572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4" name="Module 1"/>
          <p:cNvSpPr/>
          <p:nvPr/>
        </p:nvSpPr>
        <p:spPr>
          <a:xfrm>
            <a:off x="548640" y="109728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5" name="Module 1 accent"/>
          <p:cNvSpPr/>
          <p:nvPr/>
        </p:nvSpPr>
        <p:spPr>
          <a:xfrm>
            <a:off x="731520" y="1280160"/>
            <a:ext cx="365760" cy="54864"/>
          </a:xfrm>
          <a:prstGeom prst="rect">
            <a:avLst/>
          </a:prstGeom>
          <a:solidFill>
            <a:srgbClr val="9ADBE2"/>
          </a:solidFill>
          <a:ln w="12700">
            <a:solidFill>
              <a:srgbClr val="9ADBE2"/>
            </a:solidFill>
            <a:prstDash val="solid"/>
          </a:ln>
        </p:spPr>
      </p:sp>
      <p:sp>
        <p:nvSpPr>
          <p:cNvPr id="6" name="Module 1 text"/>
          <p:cNvSpPr txBox="1"/>
          <p:nvPr/>
        </p:nvSpPr>
        <p:spPr>
          <a:xfrm>
            <a:off x="73152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User Interface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Web page, single and batch (50 lines)</a:t>
            </a:r>
            <a:endParaRPr lang="en-US" sz="1600" dirty="0"/>
          </a:p>
        </p:txBody>
      </p:sp>
      <p:sp>
        <p:nvSpPr>
          <p:cNvPr id="7" name="Module 2"/>
          <p:cNvSpPr/>
          <p:nvPr/>
        </p:nvSpPr>
        <p:spPr>
          <a:xfrm>
            <a:off x="3291840" y="109728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8" name="Module 2 accent"/>
          <p:cNvSpPr/>
          <p:nvPr/>
        </p:nvSpPr>
        <p:spPr>
          <a:xfrm>
            <a:off x="3474720" y="1280160"/>
            <a:ext cx="365760" cy="54864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9" name="Module 2 text"/>
          <p:cNvSpPr txBox="1"/>
          <p:nvPr/>
        </p:nvSpPr>
        <p:spPr>
          <a:xfrm>
            <a:off x="347472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Data Collection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data_loader.py reads sentence@label file</a:t>
            </a:r>
            <a:endParaRPr lang="en-US" sz="1600" dirty="0"/>
          </a:p>
        </p:txBody>
      </p:sp>
      <p:sp>
        <p:nvSpPr>
          <p:cNvPr id="10" name="Module 3"/>
          <p:cNvSpPr/>
          <p:nvPr/>
        </p:nvSpPr>
        <p:spPr>
          <a:xfrm>
            <a:off x="6035040" y="109728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11" name="Module 3 accent"/>
          <p:cNvSpPr/>
          <p:nvPr/>
        </p:nvSpPr>
        <p:spPr>
          <a:xfrm>
            <a:off x="6217920" y="1280160"/>
            <a:ext cx="365760" cy="54864"/>
          </a:xfrm>
          <a:prstGeom prst="rect">
            <a:avLst/>
          </a:prstGeom>
          <a:solidFill>
            <a:srgbClr val="F5D488"/>
          </a:solidFill>
          <a:ln w="12700">
            <a:solidFill>
              <a:srgbClr val="F5D488"/>
            </a:solidFill>
            <a:prstDash val="solid"/>
          </a:ln>
        </p:spPr>
      </p:sp>
      <p:sp>
        <p:nvSpPr>
          <p:cNvPr id="12" name="Module 3 text"/>
          <p:cNvSpPr txBox="1"/>
          <p:nvPr/>
        </p:nvSpPr>
        <p:spPr>
          <a:xfrm>
            <a:off x="621792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Preprocessing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Lowercase, number token, keep not/up/down, stem</a:t>
            </a:r>
            <a:endParaRPr lang="en-US" sz="1600" dirty="0"/>
          </a:p>
        </p:txBody>
      </p:sp>
      <p:sp>
        <p:nvSpPr>
          <p:cNvPr id="13" name="Module 4"/>
          <p:cNvSpPr/>
          <p:nvPr/>
        </p:nvSpPr>
        <p:spPr>
          <a:xfrm>
            <a:off x="548640" y="256032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14" name="Module 4 accent"/>
          <p:cNvSpPr/>
          <p:nvPr/>
        </p:nvSpPr>
        <p:spPr>
          <a:xfrm>
            <a:off x="731520" y="2743200"/>
            <a:ext cx="365760" cy="54864"/>
          </a:xfrm>
          <a:prstGeom prst="rect">
            <a:avLst/>
          </a:prstGeom>
          <a:solidFill>
            <a:srgbClr val="C5D3E6"/>
          </a:solidFill>
          <a:ln w="12700">
            <a:solidFill>
              <a:srgbClr val="C5D3E6"/>
            </a:solidFill>
            <a:prstDash val="solid"/>
          </a:ln>
        </p:spPr>
      </p:sp>
      <p:sp>
        <p:nvSpPr>
          <p:cNvPr id="15" name="Module 4 text"/>
          <p:cNvSpPr txBox="1"/>
          <p:nvPr/>
        </p:nvSpPr>
        <p:spPr>
          <a:xfrm>
            <a:off x="73152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Core ML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Baseline and FinBERT training scripts</a:t>
            </a:r>
            <a:endParaRPr lang="en-US" sz="1600" dirty="0"/>
          </a:p>
        </p:txBody>
      </p:sp>
      <p:sp>
        <p:nvSpPr>
          <p:cNvPr id="16" name="Module 5"/>
          <p:cNvSpPr/>
          <p:nvPr/>
        </p:nvSpPr>
        <p:spPr>
          <a:xfrm>
            <a:off x="3291840" y="256032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17" name="Module 5 accent"/>
          <p:cNvSpPr/>
          <p:nvPr/>
        </p:nvSpPr>
        <p:spPr>
          <a:xfrm>
            <a:off x="3474720" y="2743200"/>
            <a:ext cx="365760" cy="54864"/>
          </a:xfrm>
          <a:prstGeom prst="rect">
            <a:avLst/>
          </a:prstGeom>
          <a:solidFill>
            <a:srgbClr val="B4E3DC"/>
          </a:solidFill>
          <a:ln w="12700">
            <a:solidFill>
              <a:srgbClr val="B4E3DC"/>
            </a:solidFill>
            <a:prstDash val="solid"/>
          </a:ln>
        </p:spPr>
      </p:sp>
      <p:sp>
        <p:nvSpPr>
          <p:cNvPr id="18" name="Module 5 text"/>
          <p:cNvSpPr txBox="1"/>
          <p:nvPr/>
        </p:nvSpPr>
        <p:spPr>
          <a:xfrm>
            <a:off x="347472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Prediction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predict.py: tokenise, softmax, label</a:t>
            </a:r>
            <a:endParaRPr lang="en-US" sz="1600" dirty="0"/>
          </a:p>
        </p:txBody>
      </p:sp>
      <p:sp>
        <p:nvSpPr>
          <p:cNvPr id="19" name="Module 6"/>
          <p:cNvSpPr/>
          <p:nvPr/>
        </p:nvSpPr>
        <p:spPr>
          <a:xfrm>
            <a:off x="6035040" y="256032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20" name="Module 6 accent"/>
          <p:cNvSpPr/>
          <p:nvPr/>
        </p:nvSpPr>
        <p:spPr>
          <a:xfrm>
            <a:off x="6217920" y="2743200"/>
            <a:ext cx="365760" cy="54864"/>
          </a:xfrm>
          <a:prstGeom prst="rect">
            <a:avLst/>
          </a:prstGeom>
          <a:solidFill>
            <a:srgbClr val="9ADBE2"/>
          </a:solidFill>
          <a:ln w="12700">
            <a:solidFill>
              <a:srgbClr val="9ADBE2"/>
            </a:solidFill>
            <a:prstDash val="solid"/>
          </a:ln>
        </p:spPr>
      </p:sp>
      <p:sp>
        <p:nvSpPr>
          <p:cNvPr id="21" name="Module 6 text"/>
          <p:cNvSpPr txBox="1"/>
          <p:nvPr/>
        </p:nvSpPr>
        <p:spPr>
          <a:xfrm>
            <a:off x="621792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Reporting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evaluate.py, compare.py: tables and charts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2800" dirty="0"/>
          </a:p>
        </p:txBody>
      </p:sp>
      <p:sp>
        <p:nvSpPr>
          <p:cNvPr id="3" name="Title underline"/>
          <p:cNvSpPr/>
          <p:nvPr/>
        </p:nvSpPr>
        <p:spPr>
          <a:xfrm>
            <a:off x="548640" y="914400"/>
            <a:ext cx="822960" cy="4572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4" name="Impl bullets"/>
          <p:cNvSpPr txBox="1"/>
          <p:nvPr/>
        </p:nvSpPr>
        <p:spPr>
          <a:xfrm>
            <a:off x="548640" y="109728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Load data, drop 8 duplicates, stratified split (seed 42).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Baselines tuned with 5-fold CV on train only.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FinBERT: 4 epochs, AdamW, class-weighted loss, early stopping on val macro-F1.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API: /health, /predict, /predict/batch with validation and CORS.</a:t>
            </a:r>
            <a:endParaRPr lang="en-US" sz="1400" dirty="0"/>
          </a:p>
        </p:txBody>
      </p:sp>
      <p:sp>
        <p:nvSpPr>
          <p:cNvPr id="5" name="Code box"/>
          <p:cNvSpPr/>
          <p:nvPr/>
        </p:nvSpPr>
        <p:spPr>
          <a:xfrm>
            <a:off x="4754880" y="1097280"/>
            <a:ext cx="3840480" cy="3108960"/>
          </a:xfrm>
          <a:prstGeom prst="roundRect">
            <a:avLst>
              <a:gd name="adj" fmla="val 3529"/>
            </a:avLst>
          </a:prstGeom>
          <a:solidFill>
            <a:srgbClr val="10243F"/>
          </a:solidFill>
          <a:ln w="12700">
            <a:solidFill>
              <a:srgbClr val="10243F"/>
            </a:solidFill>
            <a:prstDash val="solid"/>
          </a:ln>
        </p:spPr>
      </p:sp>
      <p:sp>
        <p:nvSpPr>
          <p:cNvPr id="6" name="Code text"/>
          <p:cNvSpPr txBox="1"/>
          <p:nvPr/>
        </p:nvSpPr>
        <p:spPr>
          <a:xfrm>
            <a:off x="4937760" y="12801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/predict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{"text": "Operating margin came down to 2.4 % from 5.7 %."}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(format)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{"label": "negative",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"confidence": 0.xx,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"scores": {...}}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Dataset: Financial PhraseBank</a:t>
            </a:r>
            <a:endParaRPr lang="en-US" sz="2800" dirty="0"/>
          </a:p>
        </p:txBody>
      </p:sp>
      <p:sp>
        <p:nvSpPr>
          <p:cNvPr id="3" name="Title underline"/>
          <p:cNvSpPr/>
          <p:nvPr/>
        </p:nvSpPr>
        <p:spPr>
          <a:xfrm>
            <a:off x="548640" y="914400"/>
            <a:ext cx="822960" cy="4572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4" name="Stat 1"/>
          <p:cNvSpPr/>
          <p:nvPr/>
        </p:nvSpPr>
        <p:spPr>
          <a:xfrm>
            <a:off x="548640" y="109728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9ADBE2"/>
          </a:solidFill>
          <a:ln w="12700">
            <a:solidFill>
              <a:srgbClr val="9ADBE2"/>
            </a:solidFill>
            <a:prstDash val="solid"/>
          </a:ln>
        </p:spPr>
      </p:sp>
      <p:sp>
        <p:nvSpPr>
          <p:cNvPr id="5" name="Stat num 1"/>
          <p:cNvSpPr txBox="1"/>
          <p:nvPr/>
        </p:nvSpPr>
        <p:spPr>
          <a:xfrm>
            <a:off x="548640" y="1188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4,838</a:t>
            </a:r>
            <a:endParaRPr lang="en-US" sz="3600" dirty="0"/>
          </a:p>
        </p:txBody>
      </p:sp>
      <p:sp>
        <p:nvSpPr>
          <p:cNvPr id="6" name="Stat label 1"/>
          <p:cNvSpPr txBox="1"/>
          <p:nvPr/>
        </p:nvSpPr>
        <p:spPr>
          <a:xfrm>
            <a:off x="64008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sentences (8 duplicates removed)</a:t>
            </a:r>
            <a:endParaRPr lang="en-US" sz="1200" dirty="0"/>
          </a:p>
        </p:txBody>
      </p:sp>
      <p:sp>
        <p:nvSpPr>
          <p:cNvPr id="7" name="Stat 2"/>
          <p:cNvSpPr/>
          <p:nvPr/>
        </p:nvSpPr>
        <p:spPr>
          <a:xfrm>
            <a:off x="3291840" y="109728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8" name="Stat num 2"/>
          <p:cNvSpPr txBox="1"/>
          <p:nvPr/>
        </p:nvSpPr>
        <p:spPr>
          <a:xfrm>
            <a:off x="3291840" y="1188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9" name="Stat label 2"/>
          <p:cNvSpPr txBox="1"/>
          <p:nvPr/>
        </p:nvSpPr>
        <p:spPr>
          <a:xfrm>
            <a:off x="338328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classes</a:t>
            </a:r>
            <a:endParaRPr lang="en-US" sz="1200" dirty="0"/>
          </a:p>
        </p:txBody>
      </p:sp>
      <p:sp>
        <p:nvSpPr>
          <p:cNvPr id="10" name="Stat 3"/>
          <p:cNvSpPr/>
          <p:nvPr/>
        </p:nvSpPr>
        <p:spPr>
          <a:xfrm>
            <a:off x="6035040" y="109728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F5D488"/>
          </a:solidFill>
          <a:ln w="12700">
            <a:solidFill>
              <a:srgbClr val="F5D488"/>
            </a:solidFill>
            <a:prstDash val="solid"/>
          </a:ln>
        </p:spPr>
      </p:sp>
      <p:sp>
        <p:nvSpPr>
          <p:cNvPr id="11" name="Stat num 3"/>
          <p:cNvSpPr txBox="1"/>
          <p:nvPr/>
        </p:nvSpPr>
        <p:spPr>
          <a:xfrm>
            <a:off x="6035040" y="1188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3600" dirty="0"/>
          </a:p>
        </p:txBody>
      </p:sp>
      <p:sp>
        <p:nvSpPr>
          <p:cNvPr id="12" name="Stat label 3"/>
          <p:cNvSpPr txBox="1"/>
          <p:nvPr/>
        </p:nvSpPr>
        <p:spPr>
          <a:xfrm>
            <a:off x="612648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finance annotators</a:t>
            </a:r>
            <a:endParaRPr lang="en-US" sz="1200" dirty="0"/>
          </a:p>
        </p:txBody>
      </p:sp>
      <p:sp>
        <p:nvSpPr>
          <p:cNvPr id="13" name="Dataset facts"/>
          <p:cNvSpPr txBox="1"/>
          <p:nvPr/>
        </p:nvSpPr>
        <p:spPr>
          <a:xfrm>
            <a:off x="548640" y="260604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Neutral 59%, positive 28%, negative 12.5% (imbalanced).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Split: 3,386 train, 726 validation, 726 test.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Average 23 words, so 128 BERT tokens suffice.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Baseline preprocessing: lowercase, number token, stop-words, stemming, TF-IDF.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Malo et al. (2014), Aalto University; Sentences_50Agree; CC BY-NC-SA 3.0.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/ Model</a:t>
            </a:r>
            <a:endParaRPr lang="en-US" sz="2800" dirty="0"/>
          </a:p>
        </p:txBody>
      </p:sp>
      <p:sp>
        <p:nvSpPr>
          <p:cNvPr id="3" name="Title underline"/>
          <p:cNvSpPr/>
          <p:nvPr/>
        </p:nvSpPr>
        <p:spPr>
          <a:xfrm>
            <a:off x="548640" y="914400"/>
            <a:ext cx="822960" cy="4572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4" name="Left"/>
          <p:cNvSpPr/>
          <p:nvPr/>
        </p:nvSpPr>
        <p:spPr>
          <a:xfrm>
            <a:off x="548640" y="1097280"/>
            <a:ext cx="393192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5" name="Left accent"/>
          <p:cNvSpPr/>
          <p:nvPr/>
        </p:nvSpPr>
        <p:spPr>
          <a:xfrm>
            <a:off x="731520" y="1280160"/>
            <a:ext cx="365760" cy="54864"/>
          </a:xfrm>
          <a:prstGeom prst="rect">
            <a:avLst/>
          </a:prstGeom>
          <a:solidFill>
            <a:srgbClr val="3E6FA8"/>
          </a:solidFill>
          <a:ln w="12700">
            <a:solidFill>
              <a:srgbClr val="3E6FA8"/>
            </a:solidFill>
            <a:prstDash val="solid"/>
          </a:ln>
        </p:spPr>
      </p:sp>
      <p:sp>
        <p:nvSpPr>
          <p:cNvPr id="6" name="Left text"/>
          <p:cNvSpPr txBox="1"/>
          <p:nvPr/>
        </p:nvSpPr>
        <p:spPr>
          <a:xfrm>
            <a:off x="731520" y="14630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TF-IDF baselines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Logistic Regression (best), Linear SVM, Naive Bayes. Fast and explainable, but no context.</a:t>
            </a:r>
            <a:endParaRPr lang="en-US" sz="1600" dirty="0"/>
          </a:p>
        </p:txBody>
      </p:sp>
      <p:sp>
        <p:nvSpPr>
          <p:cNvPr id="7" name="Right"/>
          <p:cNvSpPr/>
          <p:nvPr/>
        </p:nvSpPr>
        <p:spPr>
          <a:xfrm>
            <a:off x="4663440" y="1097280"/>
            <a:ext cx="393192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8" name="Right accent"/>
          <p:cNvSpPr/>
          <p:nvPr/>
        </p:nvSpPr>
        <p:spPr>
          <a:xfrm>
            <a:off x="4846320" y="1280160"/>
            <a:ext cx="36576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Right text"/>
          <p:cNvSpPr txBox="1"/>
          <p:nvPr/>
        </p:nvSpPr>
        <p:spPr>
          <a:xfrm>
            <a:off x="4846320" y="14630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FinBERT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BERT further trained on finance text. Reads each word in the context of the whole sentence, so it handles negation and jargon.</a:t>
            </a:r>
            <a:endParaRPr lang="en-US" sz="1600" dirty="0"/>
          </a:p>
        </p:txBody>
      </p:sp>
      <p:sp>
        <p:nvSpPr>
          <p:cNvPr id="10" name="Params"/>
          <p:cNvSpPr txBox="1"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Parameters: 128 tokens, 4 epochs, AdamW, class-weighted loss, early stopping on val macro-F1.</a:t>
            </a:r>
            <a:endParaRPr lang="en-US" sz="1300" dirty="0"/>
          </a:p>
        </p:txBody>
      </p:sp>
      <p:sp>
        <p:nvSpPr>
          <p:cNvPr id="11" name="Why"/>
          <p:cNvSpPr txBox="1"/>
          <p:nvPr/>
        </p:nvSpPr>
        <p:spPr>
          <a:xfrm>
            <a:off x="548640" y="3886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Selected because context awareness targets the baselines' main weakness.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(726-sentence test set)</a:t>
            </a:r>
            <a:endParaRPr lang="en-US" sz="2800" dirty="0"/>
          </a:p>
        </p:txBody>
      </p:sp>
      <p:sp>
        <p:nvSpPr>
          <p:cNvPr id="3" name="Title underline"/>
          <p:cNvSpPr/>
          <p:nvPr/>
        </p:nvSpPr>
        <p:spPr>
          <a:xfrm>
            <a:off x="548640" y="914400"/>
            <a:ext cx="822960" cy="4572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40233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097280"/>
          <a:ext cx="41148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777240"/>
                <a:gridCol w="640080"/>
                <a:gridCol w="548640"/>
                <a:gridCol w="548640"/>
                <a:gridCol w="5486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Macro-F1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 neg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 neu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 pos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243F"/>
                          </a:solidFill>
                        </a:rPr>
                        <a:t>Logistic Reg.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43F"/>
                          </a:solidFill>
                        </a:rPr>
                        <a:t>77.0%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43F"/>
                          </a:solidFill>
                        </a:rPr>
                        <a:t>0.742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43F"/>
                          </a:solidFill>
                        </a:rPr>
                        <a:t>0.739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43F"/>
                          </a:solidFill>
                        </a:rPr>
                        <a:t>0.827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43F"/>
                          </a:solidFill>
                        </a:rPr>
                        <a:t>0.660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243F"/>
                          </a:solidFill>
                        </a:rPr>
                        <a:t>Linear SVM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43F"/>
                          </a:solidFill>
                        </a:rPr>
                        <a:t>75.8%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43F"/>
                          </a:solidFill>
                        </a:rPr>
                        <a:t>0.720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43F"/>
                          </a:solidFill>
                        </a:rPr>
                        <a:t>0.716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43F"/>
                          </a:solidFill>
                        </a:rPr>
                        <a:t>0.822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43F"/>
                          </a:solidFill>
                        </a:rPr>
                        <a:t>0.622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243F"/>
                          </a:solidFill>
                        </a:rPr>
                        <a:t>Naive Bayes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43F"/>
                          </a:solidFill>
                        </a:rPr>
                        <a:t>72.0%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43F"/>
                          </a:solidFill>
                        </a:rPr>
                        <a:t>0.663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43F"/>
                          </a:solidFill>
                        </a:rPr>
                        <a:t>0.638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43F"/>
                          </a:solidFill>
                        </a:rPr>
                        <a:t>0.806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43F"/>
                          </a:solidFill>
                        </a:rPr>
                        <a:t>0.545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243F"/>
                          </a:solidFill>
                        </a:rPr>
                        <a:t>FinBERT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43F"/>
                          </a:solidFill>
                        </a:rPr>
                        <a:t>not run yet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43F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43F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43F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43F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sult notes"/>
          <p:cNvSpPr txBox="1"/>
          <p:nvPr/>
        </p:nvSpPr>
        <p:spPr>
          <a:xfrm>
            <a:off x="4572000" y="30632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Precision / recall (macro) LogReg: 0.743 / 0.742.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Main error: 67 of 204 positives predicted neutral. FinBERT should help.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Published ~86% accuracy is a literature reference only.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Web App (illustrative layout)</a:t>
            </a:r>
            <a:endParaRPr lang="en-US" sz="2800" dirty="0"/>
          </a:p>
        </p:txBody>
      </p:sp>
      <p:sp>
        <p:nvSpPr>
          <p:cNvPr id="3" name="Title underline"/>
          <p:cNvSpPr/>
          <p:nvPr/>
        </p:nvSpPr>
        <p:spPr>
          <a:xfrm>
            <a:off x="548640" y="914400"/>
            <a:ext cx="822960" cy="4572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4" name="App window"/>
          <p:cNvSpPr/>
          <p:nvPr/>
        </p:nvSpPr>
        <p:spPr>
          <a:xfrm>
            <a:off x="1371600" y="1051560"/>
            <a:ext cx="6400800" cy="301752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9050">
            <a:solidFill>
              <a:srgbClr val="4FB3BF"/>
            </a:solidFill>
            <a:prstDash val="solid"/>
          </a:ln>
        </p:spPr>
      </p:sp>
      <p:sp>
        <p:nvSpPr>
          <p:cNvPr id="5" name="App title"/>
          <p:cNvSpPr txBox="1"/>
          <p:nvPr/>
        </p:nvSpPr>
        <p:spPr>
          <a:xfrm>
            <a:off x="1645920" y="11887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Sentiment Analyzer</a:t>
            </a:r>
            <a:endParaRPr lang="en-US" sz="1600" dirty="0"/>
          </a:p>
        </p:txBody>
      </p:sp>
      <p:sp>
        <p:nvSpPr>
          <p:cNvPr id="6" name="Input box"/>
          <p:cNvSpPr txBox="1"/>
          <p:nvPr/>
        </p:nvSpPr>
        <p:spPr>
          <a:xfrm>
            <a:off x="1645920" y="1691640"/>
            <a:ext cx="5852160" cy="548640"/>
          </a:xfrm>
          <a:prstGeom prst="rect">
            <a:avLst/>
          </a:prstGeom>
          <a:solidFill>
            <a:srgbClr val="EEF3F9"/>
          </a:solidFill>
          <a:ln w="12700">
            <a:solidFill>
              <a:srgbClr val="CFDAE8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Input: type a financial headline...</a:t>
            </a:r>
            <a:endParaRPr lang="en-US" sz="1300" dirty="0"/>
          </a:p>
        </p:txBody>
      </p:sp>
      <p:sp>
        <p:nvSpPr>
          <p:cNvPr id="7" name="Button"/>
          <p:cNvSpPr txBox="1"/>
          <p:nvPr/>
        </p:nvSpPr>
        <p:spPr>
          <a:xfrm>
            <a:off x="1645920" y="2423160"/>
            <a:ext cx="1280160" cy="411480"/>
          </a:xfrm>
          <a:prstGeom prst="roundRect">
            <a:avLst>
              <a:gd name="adj" fmla="val 44444"/>
            </a:avLst>
          </a:prstGeom>
          <a:solidFill>
            <a:srgbClr val="0E7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Analyze</a:t>
            </a:r>
            <a:endParaRPr lang="en-US" sz="1300" dirty="0"/>
          </a:p>
        </p:txBody>
      </p:sp>
      <p:sp>
        <p:nvSpPr>
          <p:cNvPr id="8" name="Result"/>
          <p:cNvSpPr txBox="1"/>
          <p:nvPr/>
        </p:nvSpPr>
        <p:spPr>
          <a:xfrm>
            <a:off x="1645920" y="3017520"/>
            <a:ext cx="5852160" cy="457200"/>
          </a:xfrm>
          <a:prstGeom prst="rect">
            <a:avLst/>
          </a:prstGeom>
          <a:solidFill>
            <a:srgbClr val="D9E6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NEGATIVE  |  confidence %</a:t>
            </a:r>
            <a:endParaRPr lang="en-US" sz="1400" dirty="0"/>
          </a:p>
        </p:txBody>
      </p:sp>
      <p:sp>
        <p:nvSpPr>
          <p:cNvPr id="9" name="Legend"/>
          <p:cNvSpPr txBox="1"/>
          <p:nvPr/>
        </p:nvSpPr>
        <p:spPr>
          <a:xfrm>
            <a:off x="1645920" y="35661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Green: positive    Grey: neutral    Red: negative</a:t>
            </a:r>
            <a:endParaRPr lang="en-US" sz="1100" dirty="0"/>
          </a:p>
        </p:txBody>
      </p:sp>
      <p:sp>
        <p:nvSpPr>
          <p:cNvPr id="10" name="Screenshot note"/>
          <p:cNvSpPr txBox="1"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Replace with real screenshots before presenting.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Advantages</a:t>
            </a:r>
            <a:endParaRPr lang="en-US" sz="2800" dirty="0"/>
          </a:p>
        </p:txBody>
      </p:sp>
      <p:sp>
        <p:nvSpPr>
          <p:cNvPr id="3" name="Title underline"/>
          <p:cNvSpPr/>
          <p:nvPr/>
        </p:nvSpPr>
        <p:spPr>
          <a:xfrm>
            <a:off x="548640" y="914400"/>
            <a:ext cx="822960" cy="4572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Baselines first, so BERT's gain is measured, not assumed.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Honest evaluation: duplicates removed, locked test set, macro-F1.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Explainable baseline: top negative words are down, decreased, fell, cut, warning.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Context-aware FinBERT built for finance language.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Ready-to-use web app with single and batch prediction.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</a:t>
            </a:r>
            <a:endParaRPr lang="en-US" sz="2800" dirty="0"/>
          </a:p>
        </p:txBody>
      </p:sp>
      <p:sp>
        <p:nvSpPr>
          <p:cNvPr id="3" name="Title underline"/>
          <p:cNvSpPr/>
          <p:nvPr/>
        </p:nvSpPr>
        <p:spPr>
          <a:xfrm>
            <a:off x="548640" y="914400"/>
            <a:ext cx="822960" cy="4572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4" name="Card 1"/>
          <p:cNvSpPr/>
          <p:nvPr/>
        </p:nvSpPr>
        <p:spPr>
          <a:xfrm>
            <a:off x="548640" y="109728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5" name="Card 1 accent"/>
          <p:cNvSpPr/>
          <p:nvPr/>
        </p:nvSpPr>
        <p:spPr>
          <a:xfrm>
            <a:off x="731520" y="1280160"/>
            <a:ext cx="365760" cy="54864"/>
          </a:xfrm>
          <a:prstGeom prst="rect">
            <a:avLst/>
          </a:prstGeom>
          <a:solidFill>
            <a:srgbClr val="9ADBE2"/>
          </a:solidFill>
          <a:ln w="12700">
            <a:solidFill>
              <a:srgbClr val="9ADBE2"/>
            </a:solidFill>
            <a:prstDash val="solid"/>
          </a:ln>
        </p:spPr>
      </p:sp>
      <p:sp>
        <p:nvSpPr>
          <p:cNvPr id="6" name="Card 1 text"/>
          <p:cNvSpPr txBox="1"/>
          <p:nvPr/>
        </p:nvSpPr>
        <p:spPr>
          <a:xfrm>
            <a:off x="731520" y="14630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Investors and traders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Quick tone check on headlines</a:t>
            </a:r>
            <a:endParaRPr lang="en-US" sz="1600" dirty="0"/>
          </a:p>
        </p:txBody>
      </p:sp>
      <p:sp>
        <p:nvSpPr>
          <p:cNvPr id="7" name="Card 2"/>
          <p:cNvSpPr/>
          <p:nvPr/>
        </p:nvSpPr>
        <p:spPr>
          <a:xfrm>
            <a:off x="4663440" y="109728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8" name="Card 2 accent"/>
          <p:cNvSpPr/>
          <p:nvPr/>
        </p:nvSpPr>
        <p:spPr>
          <a:xfrm>
            <a:off x="4846320" y="1280160"/>
            <a:ext cx="365760" cy="54864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9" name="Card 2 text"/>
          <p:cNvSpPr txBox="1"/>
          <p:nvPr/>
        </p:nvSpPr>
        <p:spPr>
          <a:xfrm>
            <a:off x="4846320" y="14630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Financial analysts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Screen large volumes of news</a:t>
            </a:r>
            <a:endParaRPr lang="en-US" sz="1600" dirty="0"/>
          </a:p>
        </p:txBody>
      </p:sp>
      <p:sp>
        <p:nvSpPr>
          <p:cNvPr id="10" name="Card 3"/>
          <p:cNvSpPr/>
          <p:nvPr/>
        </p:nvSpPr>
        <p:spPr>
          <a:xfrm>
            <a:off x="548640" y="274320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11" name="Card 3 accent"/>
          <p:cNvSpPr/>
          <p:nvPr/>
        </p:nvSpPr>
        <p:spPr>
          <a:xfrm>
            <a:off x="731520" y="2926080"/>
            <a:ext cx="365760" cy="54864"/>
          </a:xfrm>
          <a:prstGeom prst="rect">
            <a:avLst/>
          </a:prstGeom>
          <a:solidFill>
            <a:srgbClr val="F5D488"/>
          </a:solidFill>
          <a:ln w="12700">
            <a:solidFill>
              <a:srgbClr val="F5D488"/>
            </a:solidFill>
            <a:prstDash val="solid"/>
          </a:ln>
        </p:spPr>
      </p:sp>
      <p:sp>
        <p:nvSpPr>
          <p:cNvPr id="12" name="Card 3 text"/>
          <p:cNvSpPr txBox="1"/>
          <p:nvPr/>
        </p:nvSpPr>
        <p:spPr>
          <a:xfrm>
            <a:off x="731520" y="3108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Media monitoring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Track sentiment on companies</a:t>
            </a:r>
            <a:endParaRPr lang="en-US" sz="1600" dirty="0"/>
          </a:p>
        </p:txBody>
      </p:sp>
      <p:sp>
        <p:nvSpPr>
          <p:cNvPr id="13" name="Card 4"/>
          <p:cNvSpPr/>
          <p:nvPr/>
        </p:nvSpPr>
        <p:spPr>
          <a:xfrm>
            <a:off x="4663440" y="274320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14" name="Card 4 accent"/>
          <p:cNvSpPr/>
          <p:nvPr/>
        </p:nvSpPr>
        <p:spPr>
          <a:xfrm>
            <a:off x="4846320" y="2926080"/>
            <a:ext cx="365760" cy="54864"/>
          </a:xfrm>
          <a:prstGeom prst="rect">
            <a:avLst/>
          </a:prstGeom>
          <a:solidFill>
            <a:srgbClr val="C5D3E6"/>
          </a:solidFill>
          <a:ln w="12700">
            <a:solidFill>
              <a:srgbClr val="C5D3E6"/>
            </a:solidFill>
            <a:prstDash val="solid"/>
          </a:ln>
        </p:spPr>
      </p:sp>
      <p:sp>
        <p:nvSpPr>
          <p:cNvPr id="15" name="Card 4 text"/>
          <p:cNvSpPr txBox="1"/>
          <p:nvPr/>
        </p:nvSpPr>
        <p:spPr>
          <a:xfrm>
            <a:off x="4846320" y="3108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Fintech and research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Sentiment signal for market studies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3" name="Title underline"/>
          <p:cNvSpPr/>
          <p:nvPr/>
        </p:nvSpPr>
        <p:spPr>
          <a:xfrm>
            <a:off x="548640" y="914400"/>
            <a:ext cx="822960" cy="4572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4" name="Bullets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Small dataset: about 4,800 sentences.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Finnish company news only, English only.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Sentences labelled in isolation; long articles untested.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FinBERT fine-tuning not yet run, so no FinBERT results.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Does not predict prices; sentiment is only a signal.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API has no authentication yet.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3" name="Title underline"/>
          <p:cNvSpPr/>
          <p:nvPr/>
        </p:nvSpPr>
        <p:spPr>
          <a:xfrm>
            <a:off x="548640" y="914400"/>
            <a:ext cx="822960" cy="4572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4" name="Card 1"/>
          <p:cNvSpPr/>
          <p:nvPr/>
        </p:nvSpPr>
        <p:spPr>
          <a:xfrm>
            <a:off x="548640" y="109728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5" name="Card 1 accent"/>
          <p:cNvSpPr/>
          <p:nvPr/>
        </p:nvSpPr>
        <p:spPr>
          <a:xfrm>
            <a:off x="731520" y="1280160"/>
            <a:ext cx="365760" cy="54864"/>
          </a:xfrm>
          <a:prstGeom prst="rect">
            <a:avLst/>
          </a:prstGeom>
          <a:solidFill>
            <a:srgbClr val="9ADBE2"/>
          </a:solidFill>
          <a:ln w="12700">
            <a:solidFill>
              <a:srgbClr val="9ADBE2"/>
            </a:solidFill>
            <a:prstDash val="solid"/>
          </a:ln>
        </p:spPr>
      </p:sp>
      <p:sp>
        <p:nvSpPr>
          <p:cNvPr id="6" name="Card 1 text"/>
          <p:cNvSpPr txBox="1"/>
          <p:nvPr/>
        </p:nvSpPr>
        <p:spPr>
          <a:xfrm>
            <a:off x="731520" y="14630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Better models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and tune FinBERT; test more datasets</a:t>
            </a:r>
            <a:endParaRPr lang="en-US" sz="1600" dirty="0"/>
          </a:p>
        </p:txBody>
      </p:sp>
      <p:sp>
        <p:nvSpPr>
          <p:cNvPr id="7" name="Card 2"/>
          <p:cNvSpPr/>
          <p:nvPr/>
        </p:nvSpPr>
        <p:spPr>
          <a:xfrm>
            <a:off x="4663440" y="109728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8" name="Card 2 accent"/>
          <p:cNvSpPr/>
          <p:nvPr/>
        </p:nvSpPr>
        <p:spPr>
          <a:xfrm>
            <a:off x="4846320" y="1280160"/>
            <a:ext cx="365760" cy="54864"/>
          </a:xfrm>
          <a:prstGeom prst="rect">
            <a:avLst/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9" name="Card 2 text"/>
          <p:cNvSpPr txBox="1"/>
          <p:nvPr/>
        </p:nvSpPr>
        <p:spPr>
          <a:xfrm>
            <a:off x="4846320" y="14630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Market link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Connect sentiment to stock price movement</a:t>
            </a:r>
            <a:endParaRPr lang="en-US" sz="1600" dirty="0"/>
          </a:p>
        </p:txBody>
      </p:sp>
      <p:sp>
        <p:nvSpPr>
          <p:cNvPr id="10" name="Card 3"/>
          <p:cNvSpPr/>
          <p:nvPr/>
        </p:nvSpPr>
        <p:spPr>
          <a:xfrm>
            <a:off x="548640" y="274320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11" name="Card 3 accent"/>
          <p:cNvSpPr/>
          <p:nvPr/>
        </p:nvSpPr>
        <p:spPr>
          <a:xfrm>
            <a:off x="731520" y="2926080"/>
            <a:ext cx="365760" cy="54864"/>
          </a:xfrm>
          <a:prstGeom prst="rect">
            <a:avLst/>
          </a:prstGeom>
          <a:solidFill>
            <a:srgbClr val="F5D488"/>
          </a:solidFill>
          <a:ln w="12700">
            <a:solidFill>
              <a:srgbClr val="F5D488"/>
            </a:solidFill>
            <a:prstDash val="solid"/>
          </a:ln>
        </p:spPr>
      </p:sp>
      <p:sp>
        <p:nvSpPr>
          <p:cNvPr id="12" name="Card 3 text"/>
          <p:cNvSpPr txBox="1"/>
          <p:nvPr/>
        </p:nvSpPr>
        <p:spPr>
          <a:xfrm>
            <a:off x="731520" y="3108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Live data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Stream real-time news</a:t>
            </a:r>
            <a:endParaRPr lang="en-US" sz="1600" dirty="0"/>
          </a:p>
        </p:txBody>
      </p:sp>
      <p:sp>
        <p:nvSpPr>
          <p:cNvPr id="13" name="Card 4"/>
          <p:cNvSpPr/>
          <p:nvPr/>
        </p:nvSpPr>
        <p:spPr>
          <a:xfrm>
            <a:off x="4663440" y="274320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rgbClr val="CFDAE8"/>
            </a:solidFill>
            <a:prstDash val="solid"/>
          </a:ln>
        </p:spPr>
      </p:sp>
      <p:sp>
        <p:nvSpPr>
          <p:cNvPr id="14" name="Card 4 accent"/>
          <p:cNvSpPr/>
          <p:nvPr/>
        </p:nvSpPr>
        <p:spPr>
          <a:xfrm>
            <a:off x="4846320" y="2926080"/>
            <a:ext cx="365760" cy="54864"/>
          </a:xfrm>
          <a:prstGeom prst="rect">
            <a:avLst/>
          </a:prstGeom>
          <a:solidFill>
            <a:srgbClr val="C5D3E6"/>
          </a:solidFill>
          <a:ln w="12700">
            <a:solidFill>
              <a:srgbClr val="C5D3E6"/>
            </a:solidFill>
            <a:prstDash val="solid"/>
          </a:ln>
        </p:spPr>
      </p:sp>
      <p:sp>
        <p:nvSpPr>
          <p:cNvPr id="15" name="Card 4 text"/>
          <p:cNvSpPr txBox="1"/>
          <p:nvPr/>
        </p:nvSpPr>
        <p:spPr>
          <a:xfrm>
            <a:off x="4846320" y="3108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Deployment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Authentication, tighter CORS, scalable API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82296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B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Conclusion points"/>
          <p:cNvSpPr txBox="1"/>
          <p:nvPr/>
        </p:nvSpPr>
        <p:spPr>
          <a:xfrm>
            <a:off x="822960" y="1371600"/>
            <a:ext cx="7498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Delivered end to end: EDA, baselines, FinBERT pipeline, evaluation and a live app.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Key outcome: Logistic Regression baseline reaches 77.0% accuracy, 0.742 macro-F1.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Positive class is hardest (confused with neutral), motivating context-aware FinBERT.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Contribution: a fair, reproducible comparison and a deployable sentiment service.</a:t>
            </a:r>
            <a:endParaRPr lang="en-US" sz="1600" dirty="0"/>
          </a:p>
        </p:txBody>
      </p:sp>
      <p:sp>
        <p:nvSpPr>
          <p:cNvPr id="4" name="Thanks"/>
          <p:cNvSpPr txBox="1"/>
          <p:nvPr/>
        </p:nvSpPr>
        <p:spPr>
          <a:xfrm>
            <a:off x="822960" y="3657600"/>
            <a:ext cx="5486400" cy="731520"/>
          </a:xfrm>
          <a:prstGeom prst="roundRect">
            <a:avLst>
              <a:gd name="adj" fmla="val 31250"/>
            </a:avLst>
          </a:prstGeom>
          <a:solidFill>
            <a:srgbClr val="F2B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231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 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essional Navy">
  <a:themeElements>
    <a:clrScheme name="Professional Navy">
      <a:dk1>
        <a:srgbClr val="10243F"/>
      </a:dk1>
      <a:lt1>
        <a:srgbClr val="FFFFFF"/>
      </a:lt1>
      <a:dk2>
        <a:srgbClr val="12315C"/>
      </a:dk2>
      <a:lt2>
        <a:srgbClr val="EEF3F9"/>
      </a:lt2>
      <a:accent1>
        <a:srgbClr val="4FB3BF"/>
      </a:accent1>
      <a:accent2>
        <a:srgbClr val="0E7C86"/>
      </a:accent2>
      <a:accent3>
        <a:srgbClr val="D6E4F3"/>
      </a:accent3>
      <a:accent4>
        <a:srgbClr val="3E6FA8"/>
      </a:accent4>
      <a:accent5>
        <a:srgbClr val="F2C14E"/>
      </a:accent5>
      <a:accent6>
        <a:srgbClr val="8FA9C8"/>
      </a:accent6>
      <a:hlink>
        <a:srgbClr val="12315C"/>
      </a:hlink>
      <a:folHlink>
        <a:srgbClr val="64748B"/>
      </a:folHlink>
    </a:clrScheme>
    <a:fontScheme name="Professional Navy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Sentiment Analysis Using NLP and BERT</dc:title>
  <dc:subject>PptxGenJS Presentation</dc:subject>
  <dc:creator>PptxGenJS</dc:creator>
  <cp:lastModifiedBy>PptxGenJS</cp:lastModifiedBy>
  <cp:revision>1</cp:revision>
  <dcterms:created xsi:type="dcterms:W3CDTF">2026-10-14T05:07:24Z</dcterms:created>
  <dcterms:modified xsi:type="dcterms:W3CDTF">2026-10-14T05:07:24Z</dcterms:modified>
</cp:coreProperties>
</file>